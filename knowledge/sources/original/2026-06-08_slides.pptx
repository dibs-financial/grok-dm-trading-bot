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0"/>
            <a:ext cx="22860" cy="514350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731520"/>
            <a:ext cx="1645920" cy="1645920"/>
          </a:xfrm>
          <a:prstGeom prst="ellipse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0" y="1828800"/>
            <a:ext cx="1097280" cy="1097280"/>
          </a:xfrm>
          <a:prstGeom prst="ellipse">
            <a:avLst/>
          </a:prstGeom>
          <a:solidFill>
            <a:srgbClr val="0D1B2A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0" y="3474720"/>
            <a:ext cx="2560320" cy="64008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34747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MASTERS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1188720"/>
            <a:ext cx="5486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MARKET UPDATE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320040" y="1920240"/>
            <a:ext cx="5029200" cy="36576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05740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C0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8, 2026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0040" y="2560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Tyler Hubbard</a:t>
            </a:r>
            <a:endParaRPr lang="en-US" sz="1400" dirty="0"/>
          </a:p>
          <a:p>
            <a:pPr indent="0" marL="0">
              <a:buNone/>
            </a:pPr>
            <a:r>
              <a:rPr lang="en-US" sz="14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Research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0040" y="32918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markets briefing: crypto, macro, and what to watch.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49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Market Update  |  June 8, 2026  |  Tyler Hubbard, Head of Research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132320" y="49149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MASTERS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4008"/>
            <a:ext cx="9144000" cy="749808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008"/>
            <a:ext cx="84124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MARKET OVERVIEW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217920" y="64008"/>
            <a:ext cx="2743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of June 2-6, 2026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2743200" cy="141732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05840"/>
            <a:ext cx="2743200" cy="5029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6984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&amp; GREED INDEX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132588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84048" y="190195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Fear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1005840"/>
            <a:ext cx="2743200" cy="141732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1005840"/>
            <a:ext cx="2743200" cy="5029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06984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ETF OUTFLOWS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55848" y="132588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$1.67B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3355848" y="190195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of 2026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1005840"/>
            <a:ext cx="2743200" cy="141732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17920" y="1005840"/>
            <a:ext cx="2743200" cy="5029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27648" y="1069848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BTC vs. ATH ($126K)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327648" y="1325880"/>
            <a:ext cx="25237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-50%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327648" y="1901952"/>
            <a:ext cx="25237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 Oct 2025 peak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2606040"/>
            <a:ext cx="859536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Extreme fear reading of 13 matches prior cycle accumulation zones (April 2025, February 2026).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$1.67B in weekly crypto fund outflows, ETF redemptions creating direct sell pressure on BTC and ETH.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progress continues: regulated 24/7 derivatives products expanding in the US market.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 (Hyperliquid) remains a cycle outlier, hitting all-time highs amid the broader market drawdown.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extreme fear event this cycle has, in hindsight, marked a significant accumulation zone.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49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Market Update  |  June 8, 2026  |  Tyler Hubbard, Head of Research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132320" y="49149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MASTERS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4008"/>
            <a:ext cx="9144000" cy="749808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008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BITCOIN (BTC)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0" y="64008"/>
            <a:ext cx="2560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~$62,500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4069080" cy="365760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1005840"/>
            <a:ext cx="4069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1325880"/>
            <a:ext cx="4069080" cy="0"/>
          </a:xfrm>
          <a:prstGeom prst="line">
            <a:avLst/>
          </a:prstGeom>
          <a:noFill/>
          <a:ln w="12700">
            <a:solidFill>
              <a:srgbClr val="C992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4173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Price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23160" y="141732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~$62,500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171907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High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423160" y="171907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$126,198 (Oct 6, 2025)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202082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 from ATH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423160" y="202082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-50.5%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232257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Cap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423160" y="232257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~$1.25 Trillion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2624328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Support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423160" y="2624328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$60,000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" y="29260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Support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423160" y="292608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$55,000 - $58,000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1480" y="3227832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50-Day MA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423160" y="3227832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price (resistance)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1480" y="3529584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200-Day MA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23160" y="3529584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Declining since May (headwind)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11480" y="3831336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 Funding Rate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23160" y="3831336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Neutral to slightly negative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1005840"/>
            <a:ext cx="4297680" cy="365760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0" y="10058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&amp; NARRATIVE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0" y="1325880"/>
            <a:ext cx="4297680" cy="0"/>
          </a:xfrm>
          <a:prstGeom prst="line">
            <a:avLst/>
          </a:prstGeom>
          <a:noFill/>
          <a:ln w="12700">
            <a:solidFill>
              <a:srgbClr val="2196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81728" y="1417320"/>
            <a:ext cx="406908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rates neutral to slightly negative: leveraged long speculation partially flushed, a constructive signal.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MVRV not yet in historically reliable accumulation territory; watch for that signal before high-conviction entries.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$1.67B in ETF outflows = direct sell pressure. The same mechanism that drove 2025 inflows works in reverse.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Circulating supply: ~20.04M BTC. Each halving cycle the new supply issuance rate compresses further.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$60K support failure opens path toward $55K-$58K; macro deterioration (rate hike priced in) is the trigger.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Opportunity: ETF flow reversal, historically sharp. Structural institutional demand thesis unchanged.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49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Market Update  |  June 8, 2026  |  Tyler Hubbard, Head of Research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132320" y="49149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MASTERS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4008"/>
            <a:ext cx="9144000" cy="749808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008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 &amp; ALTCOINS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0" y="64008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~$1,750 / Extreme Fear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4206240" cy="182880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05840"/>
            <a:ext cx="4206240" cy="50292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0789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ETHEREUM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Price: ~$1,700-$1,800 | -29% in Q1 2026 alone | Market cap ~$230B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Underperforming BTC on this correction; no dedicated safe-haven narrative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Glamsterdam upgrade on roadmap; timeline subject to change, not a near-term trade catalyst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Layer-2 adoption, DeFi revenues, and tokenization thesis remain structurally intact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Support: $1,980; resistance: $2,135. Capital de-risking dominates near term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206240" cy="182880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4206240" cy="50292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0789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ALTCOIN LANDSCAPE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137160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 altcoin sell-off: capital concentrating in higher-quality assets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tokens (Bittensor, Render, Venice): approaching historical accumulation zones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tokens (Ondo, Canton): holding relatively better on institutional tokenization narrative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market filter: position sizing &gt; narrative selection right now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"Reverse altcoin season": speculative clones getting hit hardest; established L1s more resilient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017520"/>
            <a:ext cx="8595360" cy="146304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017520"/>
            <a:ext cx="50292" cy="1463040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0815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STRUCTURE NOTE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57200" y="3383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extreme fear event in this cycle (April 2025, February 2026, June 2026) has marked a significant accumulation zone in hindsight. That does not confirm the current bottom. It does mean the risk-reward framework is materially different than at cycle highs. The conversation is not "is this the bottom?" It is "am I managing risk appropriately at these levels?"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49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Market Update  |  June 8, 2026  |  Tyler Hubbard, Head of Research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132320" y="49149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MASTERS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4008"/>
            <a:ext cx="9144000" cy="749808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008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HYPERLIQUID / HYPE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583680" y="6400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OUTLIER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2560320" cy="292608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1188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1508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HIGH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1965960"/>
            <a:ext cx="2011680" cy="0"/>
          </a:xfrm>
          <a:prstGeom prst="line">
            <a:avLst/>
          </a:prstGeom>
          <a:noFill/>
          <a:ln w="12700">
            <a:solidFill>
              <a:srgbClr val="C99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057400"/>
            <a:ext cx="2194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BTC is -50%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its ATH and Fear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Greed sits at 13,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 is printing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highs.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5661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Divergence = signal.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08960" y="1005840"/>
            <a:ext cx="5760720" cy="292608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46120" y="1097280"/>
            <a:ext cx="11887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10972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26280" y="109728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perpetuals exchange processing billions in daily open interest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46120" y="1444752"/>
            <a:ext cx="5577840" cy="0"/>
          </a:xfrm>
          <a:prstGeom prst="line">
            <a:avLst/>
          </a:prstGeom>
          <a:noFill/>
          <a:ln w="6350">
            <a:solidFill>
              <a:srgbClr val="16253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46120" y="1554480"/>
            <a:ext cx="11887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5544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ETF Products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526280" y="155448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Bitwise, 21Shares, and Grayscale have launched ecosystem ETF products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46120" y="1901952"/>
            <a:ext cx="5577840" cy="0"/>
          </a:xfrm>
          <a:prstGeom prst="line">
            <a:avLst/>
          </a:prstGeom>
          <a:noFill/>
          <a:ln w="6350">
            <a:solidFill>
              <a:srgbClr val="1625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46120" y="2011680"/>
            <a:ext cx="11887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20116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HLP Vault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26280" y="201168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Functioning as designed; real fee revenue flowing through the vault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46120" y="2359152"/>
            <a:ext cx="5577840" cy="0"/>
          </a:xfrm>
          <a:prstGeom prst="line">
            <a:avLst/>
          </a:prstGeom>
          <a:noFill/>
          <a:ln w="6350">
            <a:solidFill>
              <a:srgbClr val="16253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2468880"/>
            <a:ext cx="11887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46120" y="24688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Support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526280" y="246888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~$56 — primary zone; $38-$44 is the secondary if BTC weakness deepens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46120" y="2816352"/>
            <a:ext cx="5577840" cy="0"/>
          </a:xfrm>
          <a:prstGeom prst="line">
            <a:avLst/>
          </a:prstGeom>
          <a:noFill/>
          <a:ln w="6350">
            <a:solidFill>
              <a:srgbClr val="1625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46120" y="2926080"/>
            <a:ext cx="11887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46120" y="29260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526280" y="292608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DEX volume, not manufactured; open interest trackable on-chain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46120" y="3273552"/>
            <a:ext cx="5577840" cy="0"/>
          </a:xfrm>
          <a:prstGeom prst="line">
            <a:avLst/>
          </a:prstGeom>
          <a:noFill/>
          <a:ln w="6350">
            <a:solidFill>
              <a:srgbClr val="1625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46120" y="3383280"/>
            <a:ext cx="1188720" cy="3474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46120" y="33832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26280" y="3383280"/>
            <a:ext cx="4251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 during extreme fear = market telling you something about demand fundamentals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49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Market Update  |  June 8, 2026  |  Tyler Hubbard, Head of Research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132320" y="49149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MASTERS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4008"/>
            <a:ext cx="9144000" cy="749808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008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OVERVIEW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0" y="64008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Jobs, Fed &amp; Rates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2606040" cy="146304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05840"/>
            <a:ext cx="2606040" cy="5029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789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NFP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1316736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172,000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384048" y="19385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85,000 expected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108960" y="1005840"/>
            <a:ext cx="2606040" cy="146304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108960" y="1005840"/>
            <a:ext cx="2606040" cy="502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18688" y="10789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JUNE HOLD PROB.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218688" y="1316736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99.4%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3218688" y="19385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Rates: 3.50%-3.75%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43600" y="1005840"/>
            <a:ext cx="2606040" cy="146304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0" y="1005840"/>
            <a:ext cx="2606040" cy="5029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53328" y="10789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HIKE PROBABILITY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053328" y="1316736"/>
            <a:ext cx="2377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~73%</a:t>
            </a:r>
            <a:endParaRPr lang="en-US" sz="3400" dirty="0"/>
          </a:p>
        </p:txBody>
      </p:sp>
      <p:sp>
        <p:nvSpPr>
          <p:cNvPr id="23" name="Text 21"/>
          <p:cNvSpPr/>
          <p:nvPr/>
        </p:nvSpPr>
        <p:spPr>
          <a:xfrm>
            <a:off x="6053328" y="193852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Year-end chance (Mkt pricing)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2697480"/>
            <a:ext cx="8595360" cy="210312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697480"/>
            <a:ext cx="50292" cy="2103120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743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FOR MARKETS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3035808"/>
            <a:ext cx="8321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172K vs 85K is not a small beat. The labor market is telling the Fed it does not need help.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"Higher for longer" narrative just got its strongest 2026 data point. No near-term pivot justification.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from "when do we cut?" to "could they hike again?" — this is a materially different risk framework.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Oil-driven inflation + resilient jobs = Fed is boxed in. June hold is near-certain; year-end hike is live risk.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watch this week: May CPI. Hot print accelerates rate hike scenario and hits all risk assets hard.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49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Market Update  |  June 8, 2026  |  Tyler Hubbard, Head of Research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132320" y="49149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MASTERS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4008"/>
            <a:ext cx="9144000" cy="749808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008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572000" y="64008"/>
            <a:ext cx="43891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Nasdaq Day Since April 2025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2011680" cy="141732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05840"/>
            <a:ext cx="2011680" cy="5029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78992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84048" y="1316736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-4.18%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384048" y="1810512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25,709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4048" y="202996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day since April 2025 tariff panic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450592" y="1005840"/>
            <a:ext cx="2011680" cy="141732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50592" y="1005840"/>
            <a:ext cx="2011680" cy="5029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1078992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500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0" y="1316736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-2.64%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560320" y="1810512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7,383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560320" y="202996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Briefly crossed 7,600 earlier in week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626864" y="1005840"/>
            <a:ext cx="2011680" cy="141732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1005840"/>
            <a:ext cx="2011680" cy="5029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1078992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 JONES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36592" y="1316736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-1.35%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736592" y="1810512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50,867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736592" y="202996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-695 points, treasury yield spike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803136" y="1005840"/>
            <a:ext cx="2011680" cy="141732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03136" y="1005840"/>
            <a:ext cx="2011680" cy="5029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12864" y="1078992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912864" y="1316736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+39.68%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912864" y="1810512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Close: 21.51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912864" y="2029968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traders caught offsides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606040"/>
            <a:ext cx="8595360" cy="219456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6517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26517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2944368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Catalyst: Broadcom disappointed on AI chip outlook (Wed night), semiconductor sector cracked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NFP-driven 10-year Treasury yield spike Friday amplified the selling into close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High-duration growth assets re-price when yields jump: AI/tech carries most duration risk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had crossed 7,600 just days before — this is a reversal of a strong June start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63440" y="2944368"/>
            <a:ext cx="4114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+39.68%: options market scramble, not a calm repricing. Participants were caught offside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case: CPI soft this week, yields pull back, NFP blowout seen as one-off outlier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case: CPI hot, rate hike expectations build, semiconductor earnings season disappoints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watch: SOX (semiconductor index) direction will lead broader tech movement next week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49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Market Update  |  June 8, 2026  |  Tyler Hubbard, Head of Research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132320" y="49149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MASTERS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4008"/>
            <a:ext cx="9144000" cy="749808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008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&amp; GEOPOLITICS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0" y="64008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Strait of Hormuz Overhang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2011680" cy="141732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05840"/>
            <a:ext cx="2011680" cy="502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78992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WTI CRUDE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1316736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~$90-94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84048" y="1819656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/barrel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203911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$138 April peak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450592" y="1005840"/>
            <a:ext cx="2011680" cy="141732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450592" y="1005840"/>
            <a:ext cx="2011680" cy="502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1078992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CRUDE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60320" y="1316736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~$96-97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560320" y="1819656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/barrel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60320" y="203911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+$31 yr-over-yr as of June 1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4626864" y="1005840"/>
            <a:ext cx="2011680" cy="141732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26864" y="1005840"/>
            <a:ext cx="2011680" cy="502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36592" y="1078992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PEAK (WTI)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736592" y="1316736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$138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736592" y="1819656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/barrel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36592" y="203911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Strait of Hormuz near-closure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6803136" y="1005840"/>
            <a:ext cx="2011680" cy="141732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03136" y="1005840"/>
            <a:ext cx="2011680" cy="502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12864" y="1078992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SHUT-IN (APRIL)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912864" y="1316736"/>
            <a:ext cx="17922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10.5M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912864" y="1819656"/>
            <a:ext cx="17922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b/d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912864" y="2039112"/>
            <a:ext cx="17922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Middle East producers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" y="2606040"/>
            <a:ext cx="8595360" cy="2194560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26517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DIPLOMATIC STATUS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63440" y="26517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IMPLICATIONS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2944368"/>
            <a:ext cx="402336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Hezbollah rejected Israel ceasefire offer; Iran launched missiles toward Israel this weekend (all intercepted)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60-day truce framework appears stalled; Trump diplomatically pushing while leaving military option open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Aramco CEO: even if Strait reopens today, full normalization takes until 2027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OPEC+ approved +188,000 b/d July quota increase; UAE departed OPEC May 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63440" y="2944368"/>
            <a:ext cx="411480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diplomatic headline moves oil sharply. Ceasefire signal = quick oil drop; escalation = spike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 departure reduces OPEC spare capacity from 3.8M to 2.5M b/d — less flexibility for future shocks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 Short-Term Energy Outlook due TOMORROW (June 9) — first official data post-latest escalation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Inflation channel: oil at $90+ sustains upward pressure on CPI, giving Fed more cover to hold/hike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49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Market Update  |  June 8, 2026  |  Tyler Hubbard, Head of Research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132320" y="49149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MASTERS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4008"/>
            <a:ext cx="9144000" cy="749808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008"/>
            <a:ext cx="64008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&amp; THE DOLLAR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0" y="64008"/>
            <a:ext cx="3017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YTD Low for Gold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4114800" cy="288036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05840"/>
            <a:ext cx="4114800" cy="502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07899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(XAU/USD)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Friday Close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31720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$4,370/oz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1645920"/>
            <a:ext cx="3840480" cy="0"/>
          </a:xfrm>
          <a:prstGeom prst="line">
            <a:avLst/>
          </a:prstGeom>
          <a:noFill/>
          <a:ln w="5080">
            <a:solidFill>
              <a:srgbClr val="1625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YTD Status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331720" y="168249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level of year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1956816"/>
            <a:ext cx="3840480" cy="0"/>
          </a:xfrm>
          <a:prstGeom prst="line">
            <a:avLst/>
          </a:prstGeom>
          <a:noFill/>
          <a:ln w="5080">
            <a:solidFill>
              <a:srgbClr val="1625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19933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Performance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331720" y="19933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-3.8% (June week)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2267712"/>
            <a:ext cx="3840480" cy="0"/>
          </a:xfrm>
          <a:prstGeom prst="line">
            <a:avLst/>
          </a:prstGeom>
          <a:noFill/>
          <a:ln w="5080">
            <a:solidFill>
              <a:srgbClr val="1625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3042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331720" y="230428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NFP beat / yields spike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11480" y="2578608"/>
            <a:ext cx="3840480" cy="0"/>
          </a:xfrm>
          <a:prstGeom prst="line">
            <a:avLst/>
          </a:prstGeom>
          <a:noFill/>
          <a:ln w="5080">
            <a:solidFill>
              <a:srgbClr val="1625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6151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Target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331720" y="2615184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$5,400 - $6,300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11480" y="2889504"/>
            <a:ext cx="3840480" cy="0"/>
          </a:xfrm>
          <a:prstGeom prst="line">
            <a:avLst/>
          </a:prstGeom>
          <a:noFill/>
          <a:ln w="5080">
            <a:solidFill>
              <a:srgbClr val="1625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consensus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31720" y="29260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0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Cautious; path lower while rate hike live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3200400"/>
            <a:ext cx="3840480" cy="0"/>
          </a:xfrm>
          <a:prstGeom prst="line">
            <a:avLst/>
          </a:prstGeom>
          <a:noFill/>
          <a:ln w="5080">
            <a:solidFill>
              <a:srgbClr val="16253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32369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Hike Hike Prob.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31720" y="3236976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~73% by year-end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" y="3511296"/>
            <a:ext cx="3840480" cy="0"/>
          </a:xfrm>
          <a:prstGeom prst="line">
            <a:avLst/>
          </a:prstGeom>
          <a:noFill/>
          <a:ln w="5080">
            <a:solidFill>
              <a:srgbClr val="1625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5478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Bank Buying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331720" y="354787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~800T/year estimated; still intact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1005840"/>
            <a:ext cx="4206240" cy="288036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1005840"/>
            <a:ext cx="4206240" cy="50292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107899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DOLLAR &amp; IMPLICATIONS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800600" y="1371600"/>
            <a:ext cx="3931920" cy="2423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Dollar Index: ~100 — firm but range-bound after the NFP-driven Friday boost.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dollar = headwind for BTC and risk assets. This correlation played out last week in real time.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paradox: Middle East conflict + $90 oil + geopolitical risk should be gold's moment. But rate hike expectations are overriding the safe-haven bid.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the dollar's strength: soft CPI this week, weak retail sales data, or any hint that the Fed is concerned about growth rather than just inflation.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 particularly weak — softer Australian growth data plus USD strength creating double pressure.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inverse relationship with USD: a weaker dollar is directly constructive for BTC in risk-off environments.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87468"/>
            <a:ext cx="9144000" cy="256032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91490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 Market Update  |  June 8, 2026  |  Tyler Hubbard, Head of Research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7132320" y="491490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DECENTRALIZED MASTERS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64008"/>
            <a:ext cx="9144000" cy="749808"/>
          </a:xfrm>
          <a:prstGeom prst="rect">
            <a:avLst/>
          </a:prstGeom>
          <a:solidFill>
            <a:srgbClr val="162535"/>
          </a:solidFill>
          <a:ln w="12700">
            <a:solidFill>
              <a:srgbClr val="1625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4008"/>
            <a:ext cx="5486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AHEAD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669280" y="64008"/>
            <a:ext cx="32918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Events &amp; Catalysts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1005840"/>
            <a:ext cx="4160520" cy="118872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005840"/>
            <a:ext cx="4160520" cy="50292"/>
          </a:xfrm>
          <a:prstGeom prst="rect">
            <a:avLst/>
          </a:prstGeom>
          <a:solidFill>
            <a:srgbClr val="C9922A"/>
          </a:solidFill>
          <a:ln w="12700">
            <a:solidFill>
              <a:srgbClr val="C992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1069848"/>
            <a:ext cx="3941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JUN 9  |  HIGH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1307592"/>
            <a:ext cx="3941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EIA Short-Term Energy Outlook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" y="1581912"/>
            <a:ext cx="3941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official supply/demand update post-latest Iran escalation. Inventory draw projections move WTI and Brent. Watch vs. EIA's May forecast of $106 Brent.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2331720"/>
            <a:ext cx="4160520" cy="118872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331720"/>
            <a:ext cx="4160520" cy="5029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395728"/>
            <a:ext cx="3941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JUN 11  |  CRITICAL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84048" y="2633472"/>
            <a:ext cx="3941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CPI Data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" y="2907792"/>
            <a:ext cx="3941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print of the week. Hot = rate hike expectations accelerate and hit all risk assets including crypto. Soft = relief rally opportunity. Direct BTC price path.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657600"/>
            <a:ext cx="4160520" cy="118872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657600"/>
            <a:ext cx="4160520" cy="50292"/>
          </a:xfrm>
          <a:prstGeom prst="rect">
            <a:avLst/>
          </a:prstGeom>
          <a:solidFill>
            <a:srgbClr val="2196C4"/>
          </a:solidFill>
          <a:ln w="12700">
            <a:solidFill>
              <a:srgbClr val="2196C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3721608"/>
            <a:ext cx="3941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19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11-12  |  MEDIUM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84048" y="3959352"/>
            <a:ext cx="3941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Meeting / Communications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" y="4233672"/>
            <a:ext cx="3941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is priced at 99.4%. Language around 'further' adjustments and dot plot signals will tell you how seriously the board is treating the rate hike scenario.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005840"/>
            <a:ext cx="4160520" cy="118872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05840"/>
            <a:ext cx="4160520" cy="50292"/>
          </a:xfrm>
          <a:prstGeom prst="rect">
            <a:avLst/>
          </a:prstGeom>
          <a:solidFill>
            <a:srgbClr val="E05252"/>
          </a:solidFill>
          <a:ln w="12700">
            <a:solidFill>
              <a:srgbClr val="E0525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608" y="1069848"/>
            <a:ext cx="3941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 |  WILDCARD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64608" y="1307592"/>
            <a:ext cx="3941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US-Iran Diplomatic Track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64608" y="1581912"/>
            <a:ext cx="3941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wildcard. Credible ceasefire = oil drops sharply, risk appetite returns. New escalation = oil spikes, inflation concerns worsen. Moves fast.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331720"/>
            <a:ext cx="4160520" cy="1188720"/>
          </a:xfrm>
          <a:prstGeom prst="rect">
            <a:avLst/>
          </a:prstGeom>
          <a:solidFill>
            <a:srgbClr val="1E3448"/>
          </a:solidFill>
          <a:ln w="12700">
            <a:solidFill>
              <a:srgbClr val="1E344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331720"/>
            <a:ext cx="4160520" cy="50292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2395728"/>
            <a:ext cx="3941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 |  WATCH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64608" y="2633472"/>
            <a:ext cx="39410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Crypto ETF Flow Data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64608" y="2907792"/>
            <a:ext cx="39410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E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Post-holiday institutional flow reversal would be the strongest near-term BTC signal. Track Bitwise / 21Shares HYPE ETF liquidity development.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DM Market Update</dc:title>
  <dc:subject>PptxGenJS Presentation</dc:subject>
  <dc:creator>Tyler Hubbard</dc:creator>
  <cp:lastModifiedBy>Tyler Hubbard</cp:lastModifiedBy>
  <cp:revision>1</cp:revision>
  <dcterms:created xsi:type="dcterms:W3CDTF">2026-06-08T13:42:02Z</dcterms:created>
  <dcterms:modified xsi:type="dcterms:W3CDTF">2026-06-08T13:42:02Z</dcterms:modified>
</cp:coreProperties>
</file>