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5" name="Shape 15"/>
        <p:cNvGrpSpPr/>
        <p:nvPr/>
      </p:nvGrpSpPr>
      <p:grpSpPr>
        <a:xfrm>
          <a:off x="0" y="0"/>
          <a:ext cx="0" cy="0"/>
          <a:chOff x="0" y="0"/>
          <a:chExt cx="0" cy="0"/>
        </a:xfrm>
      </p:grpSpPr>
      <p:sp>
        <p:nvSpPr>
          <p:cNvPr id="16" name="Google Shape;16;p3"/>
          <p:cNvSpPr/>
          <p:nvPr/>
        </p:nvSpPr>
        <p:spPr>
          <a:xfrm>
            <a:off x="0" y="0"/>
            <a:ext cx="54864" cy="5143500"/>
          </a:xfrm>
          <a:prstGeom prst="rect">
            <a:avLst/>
          </a:prstGeom>
          <a:solidFill>
            <a:srgbClr val="C8A96E"/>
          </a:solidFill>
          <a:ln cap="flat" cmpd="sng" w="12700">
            <a:solidFill>
              <a:srgbClr val="C8A9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365760" y="1371600"/>
            <a:ext cx="84124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MARKET UPDATE</a:t>
            </a:r>
            <a:endParaRPr b="0" i="0" sz="5400" u="none" cap="none" strike="noStrike">
              <a:solidFill>
                <a:schemeClr val="dk1"/>
              </a:solidFill>
              <a:latin typeface="Calibri"/>
              <a:ea typeface="Calibri"/>
              <a:cs typeface="Calibri"/>
              <a:sym typeface="Calibri"/>
            </a:endParaRPr>
          </a:p>
        </p:txBody>
      </p:sp>
      <p:sp>
        <p:nvSpPr>
          <p:cNvPr id="18" name="Google Shape;18;p3"/>
          <p:cNvSpPr/>
          <p:nvPr/>
        </p:nvSpPr>
        <p:spPr>
          <a:xfrm>
            <a:off x="365760" y="2286000"/>
            <a:ext cx="8412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1800"/>
              <a:buFont typeface="Calibri"/>
              <a:buNone/>
            </a:pPr>
            <a:r>
              <a:rPr b="0" i="0" lang="en-US" sz="1800" u="none" cap="none" strike="noStrike">
                <a:solidFill>
                  <a:srgbClr val="C8A96E"/>
                </a:solidFill>
                <a:latin typeface="Calibri"/>
                <a:ea typeface="Calibri"/>
                <a:cs typeface="Calibri"/>
                <a:sym typeface="Calibri"/>
              </a:rPr>
              <a:t>Monday, May 18, 2026</a:t>
            </a:r>
            <a:endParaRPr b="0" i="0" sz="1800" u="none" cap="none" strike="noStrike">
              <a:solidFill>
                <a:schemeClr val="dk1"/>
              </a:solidFill>
              <a:latin typeface="Calibri"/>
              <a:ea typeface="Calibri"/>
              <a:cs typeface="Calibri"/>
              <a:sym typeface="Calibri"/>
            </a:endParaRPr>
          </a:p>
        </p:txBody>
      </p:sp>
      <p:sp>
        <p:nvSpPr>
          <p:cNvPr id="19" name="Google Shape;19;p3"/>
          <p:cNvSpPr/>
          <p:nvPr/>
        </p:nvSpPr>
        <p:spPr>
          <a:xfrm>
            <a:off x="365760" y="2971800"/>
            <a:ext cx="4114800" cy="77724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502920" y="3035808"/>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1100"/>
              <a:buFont typeface="Calibri"/>
              <a:buNone/>
            </a:pPr>
            <a:r>
              <a:rPr b="1" i="0" lang="en-US" sz="1100" u="none" cap="none" strike="noStrike">
                <a:solidFill>
                  <a:srgbClr val="C8A96E"/>
                </a:solidFill>
                <a:latin typeface="Calibri"/>
                <a:ea typeface="Calibri"/>
                <a:cs typeface="Calibri"/>
                <a:sym typeface="Calibri"/>
              </a:rPr>
              <a:t>CRYPTO</a:t>
            </a:r>
            <a:endParaRPr b="0" i="0" sz="1100" u="none" cap="none" strike="noStrike">
              <a:solidFill>
                <a:schemeClr val="dk1"/>
              </a:solidFill>
              <a:latin typeface="Calibri"/>
              <a:ea typeface="Calibri"/>
              <a:cs typeface="Calibri"/>
              <a:sym typeface="Calibri"/>
            </a:endParaRPr>
          </a:p>
        </p:txBody>
      </p:sp>
      <p:sp>
        <p:nvSpPr>
          <p:cNvPr id="21" name="Google Shape;21;p3"/>
          <p:cNvSpPr/>
          <p:nvPr/>
        </p:nvSpPr>
        <p:spPr>
          <a:xfrm>
            <a:off x="502920" y="3310128"/>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1000"/>
              <a:buFont typeface="Calibri"/>
              <a:buNone/>
            </a:pPr>
            <a:r>
              <a:rPr b="0" i="0" lang="en-US" sz="1000" u="none" cap="none" strike="noStrike">
                <a:solidFill>
                  <a:srgbClr val="8899AA"/>
                </a:solidFill>
                <a:latin typeface="Calibri"/>
                <a:ea typeface="Calibri"/>
                <a:cs typeface="Calibri"/>
                <a:sym typeface="Calibri"/>
              </a:rPr>
              <a:t>BTC · ETH · Market Structure · HYPE</a:t>
            </a:r>
            <a:endParaRPr b="0" i="0" sz="1000" u="none" cap="none" strike="noStrike">
              <a:solidFill>
                <a:schemeClr val="dk1"/>
              </a:solidFill>
              <a:latin typeface="Calibri"/>
              <a:ea typeface="Calibri"/>
              <a:cs typeface="Calibri"/>
              <a:sym typeface="Calibri"/>
            </a:endParaRPr>
          </a:p>
        </p:txBody>
      </p:sp>
      <p:sp>
        <p:nvSpPr>
          <p:cNvPr id="22" name="Google Shape;22;p3"/>
          <p:cNvSpPr/>
          <p:nvPr/>
        </p:nvSpPr>
        <p:spPr>
          <a:xfrm>
            <a:off x="4663440" y="2971800"/>
            <a:ext cx="4114800" cy="77724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4800600" y="3035808"/>
            <a:ext cx="3840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1100"/>
              <a:buFont typeface="Calibri"/>
              <a:buNone/>
            </a:pPr>
            <a:r>
              <a:rPr b="1" i="0" lang="en-US" sz="1100" u="none" cap="none" strike="noStrike">
                <a:solidFill>
                  <a:srgbClr val="C8A96E"/>
                </a:solidFill>
                <a:latin typeface="Calibri"/>
                <a:ea typeface="Calibri"/>
                <a:cs typeface="Calibri"/>
                <a:sym typeface="Calibri"/>
              </a:rPr>
              <a:t>MACRO</a:t>
            </a:r>
            <a:endParaRPr b="0" i="0" sz="1100" u="none" cap="none" strike="noStrike">
              <a:solidFill>
                <a:schemeClr val="dk1"/>
              </a:solidFill>
              <a:latin typeface="Calibri"/>
              <a:ea typeface="Calibri"/>
              <a:cs typeface="Calibri"/>
              <a:sym typeface="Calibri"/>
            </a:endParaRPr>
          </a:p>
        </p:txBody>
      </p:sp>
      <p:sp>
        <p:nvSpPr>
          <p:cNvPr id="24" name="Google Shape;24;p3"/>
          <p:cNvSpPr/>
          <p:nvPr/>
        </p:nvSpPr>
        <p:spPr>
          <a:xfrm>
            <a:off x="4800600" y="3310128"/>
            <a:ext cx="38404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1000"/>
              <a:buFont typeface="Calibri"/>
              <a:buNone/>
            </a:pPr>
            <a:r>
              <a:rPr b="0" i="0" lang="en-US" sz="1000" u="none" cap="none" strike="noStrike">
                <a:solidFill>
                  <a:srgbClr val="8899AA"/>
                </a:solidFill>
                <a:latin typeface="Calibri"/>
                <a:ea typeface="Calibri"/>
                <a:cs typeface="Calibri"/>
                <a:sym typeface="Calibri"/>
              </a:rPr>
              <a:t>Fed · Iran · Oil · Gold · Equities</a:t>
            </a:r>
            <a:endParaRPr b="0" i="0" sz="1000" u="none" cap="none" strike="noStrike">
              <a:solidFill>
                <a:schemeClr val="dk1"/>
              </a:solidFill>
              <a:latin typeface="Calibri"/>
              <a:ea typeface="Calibri"/>
              <a:cs typeface="Calibri"/>
              <a:sym typeface="Calibri"/>
            </a:endParaRPr>
          </a:p>
        </p:txBody>
      </p:sp>
      <p:sp>
        <p:nvSpPr>
          <p:cNvPr id="25" name="Google Shape;25;p3"/>
          <p:cNvSpPr/>
          <p:nvPr/>
        </p:nvSpPr>
        <p:spPr>
          <a:xfrm>
            <a:off x="365760" y="4206240"/>
            <a:ext cx="4572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1100"/>
              <a:buFont typeface="Calibri"/>
              <a:buNone/>
            </a:pPr>
            <a:r>
              <a:rPr b="1" i="0" lang="en-US" sz="1100" u="none" cap="none" strike="noStrike">
                <a:solidFill>
                  <a:srgbClr val="8899AA"/>
                </a:solidFill>
                <a:latin typeface="Calibri"/>
                <a:ea typeface="Calibri"/>
                <a:cs typeface="Calibri"/>
                <a:sym typeface="Calibri"/>
              </a:rPr>
              <a:t>DECENTRALIZED MASTERS</a:t>
            </a:r>
            <a:endParaRPr b="0" i="0" sz="1100" u="none" cap="none" strike="noStrike">
              <a:solidFill>
                <a:schemeClr val="dk1"/>
              </a:solidFill>
              <a:latin typeface="Calibri"/>
              <a:ea typeface="Calibri"/>
              <a:cs typeface="Calibri"/>
              <a:sym typeface="Calibri"/>
            </a:endParaRPr>
          </a:p>
        </p:txBody>
      </p:sp>
      <p:sp>
        <p:nvSpPr>
          <p:cNvPr id="26" name="Google Shape;26;p3"/>
          <p:cNvSpPr/>
          <p:nvPr/>
        </p:nvSpPr>
        <p:spPr>
          <a:xfrm>
            <a:off x="365760" y="4526280"/>
            <a:ext cx="841248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C6E"/>
              </a:buClr>
              <a:buSzPts val="800"/>
              <a:buFont typeface="Calibri"/>
              <a:buNone/>
            </a:pPr>
            <a:r>
              <a:rPr b="0" i="0" lang="en-US" sz="800" u="none" cap="none" strike="noStrike">
                <a:solidFill>
                  <a:srgbClr val="4A5C6E"/>
                </a:solidFill>
                <a:latin typeface="Calibri"/>
                <a:ea typeface="Calibri"/>
                <a:cs typeface="Calibri"/>
                <a:sym typeface="Calibri"/>
              </a:rPr>
              <a:t>For educational purposes only. Not financial advice.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1" name="Shape 31"/>
        <p:cNvGrpSpPr/>
        <p:nvPr/>
      </p:nvGrpSpPr>
      <p:grpSpPr>
        <a:xfrm>
          <a:off x="0" y="0"/>
          <a:ext cx="0" cy="0"/>
          <a:chOff x="0" y="0"/>
          <a:chExt cx="0" cy="0"/>
        </a:xfrm>
      </p:grpSpPr>
      <p:sp>
        <p:nvSpPr>
          <p:cNvPr id="32" name="Google Shape;32;p4"/>
          <p:cNvSpPr/>
          <p:nvPr/>
        </p:nvSpPr>
        <p:spPr>
          <a:xfrm>
            <a:off x="365760" y="164592"/>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750"/>
              <a:buFont typeface="Calibri"/>
              <a:buNone/>
            </a:pPr>
            <a:r>
              <a:rPr b="1" i="0" lang="en-US" sz="750" u="none" cap="none" strike="noStrike">
                <a:solidFill>
                  <a:srgbClr val="C8A96E"/>
                </a:solidFill>
                <a:latin typeface="Calibri"/>
                <a:ea typeface="Calibri"/>
                <a:cs typeface="Calibri"/>
                <a:sym typeface="Calibri"/>
              </a:rPr>
              <a:t>FRIDAY CLOSE — MAY 18, 2026</a:t>
            </a:r>
            <a:endParaRPr b="0" i="0" sz="750" u="none" cap="none" strike="noStrike">
              <a:solidFill>
                <a:schemeClr val="dk1"/>
              </a:solidFill>
              <a:latin typeface="Calibri"/>
              <a:ea typeface="Calibri"/>
              <a:cs typeface="Calibri"/>
              <a:sym typeface="Calibri"/>
            </a:endParaRPr>
          </a:p>
        </p:txBody>
      </p:sp>
      <p:sp>
        <p:nvSpPr>
          <p:cNvPr id="33" name="Google Shape;33;p4"/>
          <p:cNvSpPr/>
          <p:nvPr/>
        </p:nvSpPr>
        <p:spPr>
          <a:xfrm>
            <a:off x="365760" y="402336"/>
            <a:ext cx="7315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Market Snapshot</a:t>
            </a:r>
            <a:endParaRPr b="0" i="0" sz="2600" u="none" cap="none" strike="noStrike">
              <a:solidFill>
                <a:schemeClr val="dk1"/>
              </a:solidFill>
              <a:latin typeface="Calibri"/>
              <a:ea typeface="Calibri"/>
              <a:cs typeface="Calibri"/>
              <a:sym typeface="Calibri"/>
            </a:endParaRPr>
          </a:p>
        </p:txBody>
      </p:sp>
      <p:sp>
        <p:nvSpPr>
          <p:cNvPr id="34" name="Google Shape;34;p4"/>
          <p:cNvSpPr/>
          <p:nvPr/>
        </p:nvSpPr>
        <p:spPr>
          <a:xfrm>
            <a:off x="91440" y="1115568"/>
            <a:ext cx="2057400" cy="987552"/>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182880" y="1207008"/>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BITCOIN</a:t>
            </a:r>
            <a:endParaRPr b="0" i="0" sz="700" u="none" cap="none" strike="noStrike">
              <a:solidFill>
                <a:schemeClr val="dk1"/>
              </a:solidFill>
              <a:latin typeface="Calibri"/>
              <a:ea typeface="Calibri"/>
              <a:cs typeface="Calibri"/>
              <a:sym typeface="Calibri"/>
            </a:endParaRPr>
          </a:p>
        </p:txBody>
      </p:sp>
      <p:sp>
        <p:nvSpPr>
          <p:cNvPr id="36" name="Google Shape;36;p4"/>
          <p:cNvSpPr/>
          <p:nvPr/>
        </p:nvSpPr>
        <p:spPr>
          <a:xfrm>
            <a:off x="182880" y="1389888"/>
            <a:ext cx="1874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~$77,000</a:t>
            </a:r>
            <a:endParaRPr b="0" i="0" sz="2200" u="none" cap="none" strike="noStrike">
              <a:solidFill>
                <a:schemeClr val="dk1"/>
              </a:solidFill>
              <a:latin typeface="Calibri"/>
              <a:ea typeface="Calibri"/>
              <a:cs typeface="Calibri"/>
              <a:sym typeface="Calibri"/>
            </a:endParaRPr>
          </a:p>
        </p:txBody>
      </p:sp>
      <p:sp>
        <p:nvSpPr>
          <p:cNvPr id="37" name="Google Shape;37;p4"/>
          <p:cNvSpPr/>
          <p:nvPr/>
        </p:nvSpPr>
        <p:spPr>
          <a:xfrm>
            <a:off x="182880" y="1828800"/>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Down 4%+ today</a:t>
            </a:r>
            <a:endParaRPr b="0" i="0" sz="800" u="none" cap="none" strike="noStrike">
              <a:solidFill>
                <a:schemeClr val="dk1"/>
              </a:solidFill>
              <a:latin typeface="Calibri"/>
              <a:ea typeface="Calibri"/>
              <a:cs typeface="Calibri"/>
              <a:sym typeface="Calibri"/>
            </a:endParaRPr>
          </a:p>
        </p:txBody>
      </p:sp>
      <p:sp>
        <p:nvSpPr>
          <p:cNvPr id="38" name="Google Shape;38;p4"/>
          <p:cNvSpPr/>
          <p:nvPr/>
        </p:nvSpPr>
        <p:spPr>
          <a:xfrm>
            <a:off x="2212848" y="1115568"/>
            <a:ext cx="2057400" cy="987552"/>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2304288" y="1207008"/>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ETHEREUM</a:t>
            </a:r>
            <a:endParaRPr b="0" i="0" sz="700" u="none" cap="none" strike="noStrike">
              <a:solidFill>
                <a:schemeClr val="dk1"/>
              </a:solidFill>
              <a:latin typeface="Calibri"/>
              <a:ea typeface="Calibri"/>
              <a:cs typeface="Calibri"/>
              <a:sym typeface="Calibri"/>
            </a:endParaRPr>
          </a:p>
        </p:txBody>
      </p:sp>
      <p:sp>
        <p:nvSpPr>
          <p:cNvPr id="40" name="Google Shape;40;p4"/>
          <p:cNvSpPr/>
          <p:nvPr/>
        </p:nvSpPr>
        <p:spPr>
          <a:xfrm>
            <a:off x="2304288" y="1389888"/>
            <a:ext cx="1874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~$2,120</a:t>
            </a:r>
            <a:endParaRPr b="0" i="0" sz="2200" u="none" cap="none" strike="noStrike">
              <a:solidFill>
                <a:schemeClr val="dk1"/>
              </a:solidFill>
              <a:latin typeface="Calibri"/>
              <a:ea typeface="Calibri"/>
              <a:cs typeface="Calibri"/>
              <a:sym typeface="Calibri"/>
            </a:endParaRPr>
          </a:p>
        </p:txBody>
      </p:sp>
      <p:sp>
        <p:nvSpPr>
          <p:cNvPr id="41" name="Google Shape;41;p4"/>
          <p:cNvSpPr/>
          <p:nvPr/>
        </p:nvSpPr>
        <p:spPr>
          <a:xfrm>
            <a:off x="2304288" y="1828800"/>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4 consec. daily losses</a:t>
            </a:r>
            <a:endParaRPr b="0" i="0" sz="800" u="none" cap="none" strike="noStrike">
              <a:solidFill>
                <a:schemeClr val="dk1"/>
              </a:solidFill>
              <a:latin typeface="Calibri"/>
              <a:ea typeface="Calibri"/>
              <a:cs typeface="Calibri"/>
              <a:sym typeface="Calibri"/>
            </a:endParaRPr>
          </a:p>
        </p:txBody>
      </p:sp>
      <p:sp>
        <p:nvSpPr>
          <p:cNvPr id="42" name="Google Shape;42;p4"/>
          <p:cNvSpPr/>
          <p:nvPr/>
        </p:nvSpPr>
        <p:spPr>
          <a:xfrm>
            <a:off x="4334256" y="1115568"/>
            <a:ext cx="2057400" cy="987552"/>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4425696" y="1207008"/>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BTC ETF FLOWS</a:t>
            </a:r>
            <a:endParaRPr b="0" i="0" sz="700" u="none" cap="none" strike="noStrike">
              <a:solidFill>
                <a:schemeClr val="dk1"/>
              </a:solidFill>
              <a:latin typeface="Calibri"/>
              <a:ea typeface="Calibri"/>
              <a:cs typeface="Calibri"/>
              <a:sym typeface="Calibri"/>
            </a:endParaRPr>
          </a:p>
        </p:txBody>
      </p:sp>
      <p:sp>
        <p:nvSpPr>
          <p:cNvPr id="44" name="Google Shape;44;p4"/>
          <p:cNvSpPr/>
          <p:nvPr/>
        </p:nvSpPr>
        <p:spPr>
          <a:xfrm>
            <a:off x="4425696" y="1389888"/>
            <a:ext cx="1874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-$1B</a:t>
            </a:r>
            <a:endParaRPr b="0" i="0" sz="2200" u="none" cap="none" strike="noStrike">
              <a:solidFill>
                <a:schemeClr val="dk1"/>
              </a:solidFill>
              <a:latin typeface="Calibri"/>
              <a:ea typeface="Calibri"/>
              <a:cs typeface="Calibri"/>
              <a:sym typeface="Calibri"/>
            </a:endParaRPr>
          </a:p>
        </p:txBody>
      </p:sp>
      <p:sp>
        <p:nvSpPr>
          <p:cNvPr id="45" name="Google Shape;45;p4"/>
          <p:cNvSpPr/>
          <p:nvPr/>
        </p:nvSpPr>
        <p:spPr>
          <a:xfrm>
            <a:off x="4425696" y="1828800"/>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Largest wkly outflow/mos</a:t>
            </a:r>
            <a:endParaRPr b="0" i="0" sz="800" u="none" cap="none" strike="noStrike">
              <a:solidFill>
                <a:schemeClr val="dk1"/>
              </a:solidFill>
              <a:latin typeface="Calibri"/>
              <a:ea typeface="Calibri"/>
              <a:cs typeface="Calibri"/>
              <a:sym typeface="Calibri"/>
            </a:endParaRPr>
          </a:p>
        </p:txBody>
      </p:sp>
      <p:sp>
        <p:nvSpPr>
          <p:cNvPr id="46" name="Google Shape;46;p4"/>
          <p:cNvSpPr/>
          <p:nvPr/>
        </p:nvSpPr>
        <p:spPr>
          <a:xfrm>
            <a:off x="6455664" y="1115568"/>
            <a:ext cx="2057400" cy="987552"/>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6547104" y="1207008"/>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CRYPTO MKT CAP</a:t>
            </a:r>
            <a:endParaRPr b="0" i="0" sz="700" u="none" cap="none" strike="noStrike">
              <a:solidFill>
                <a:schemeClr val="dk1"/>
              </a:solidFill>
              <a:latin typeface="Calibri"/>
              <a:ea typeface="Calibri"/>
              <a:cs typeface="Calibri"/>
              <a:sym typeface="Calibri"/>
            </a:endParaRPr>
          </a:p>
        </p:txBody>
      </p:sp>
      <p:sp>
        <p:nvSpPr>
          <p:cNvPr id="48" name="Google Shape;48;p4"/>
          <p:cNvSpPr/>
          <p:nvPr/>
        </p:nvSpPr>
        <p:spPr>
          <a:xfrm>
            <a:off x="6547104" y="1389888"/>
            <a:ext cx="1874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$2.56T</a:t>
            </a:r>
            <a:endParaRPr b="0" i="0" sz="2200" u="none" cap="none" strike="noStrike">
              <a:solidFill>
                <a:schemeClr val="dk1"/>
              </a:solidFill>
              <a:latin typeface="Calibri"/>
              <a:ea typeface="Calibri"/>
              <a:cs typeface="Calibri"/>
              <a:sym typeface="Calibri"/>
            </a:endParaRPr>
          </a:p>
        </p:txBody>
      </p:sp>
      <p:sp>
        <p:nvSpPr>
          <p:cNvPr id="49" name="Google Shape;49;p4"/>
          <p:cNvSpPr/>
          <p:nvPr/>
        </p:nvSpPr>
        <p:spPr>
          <a:xfrm>
            <a:off x="6547104" y="1828800"/>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Down 3.8% on the day</a:t>
            </a:r>
            <a:endParaRPr b="0" i="0" sz="800" u="none" cap="none" strike="noStrike">
              <a:solidFill>
                <a:schemeClr val="dk1"/>
              </a:solidFill>
              <a:latin typeface="Calibri"/>
              <a:ea typeface="Calibri"/>
              <a:cs typeface="Calibri"/>
              <a:sym typeface="Calibri"/>
            </a:endParaRPr>
          </a:p>
        </p:txBody>
      </p:sp>
      <p:sp>
        <p:nvSpPr>
          <p:cNvPr id="50" name="Google Shape;50;p4"/>
          <p:cNvSpPr/>
          <p:nvPr/>
        </p:nvSpPr>
        <p:spPr>
          <a:xfrm>
            <a:off x="91440" y="2194560"/>
            <a:ext cx="2057400" cy="987552"/>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182880" y="2286000"/>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GOLD (XAU)</a:t>
            </a:r>
            <a:endParaRPr b="0" i="0" sz="700" u="none" cap="none" strike="noStrike">
              <a:solidFill>
                <a:schemeClr val="dk1"/>
              </a:solidFill>
              <a:latin typeface="Calibri"/>
              <a:ea typeface="Calibri"/>
              <a:cs typeface="Calibri"/>
              <a:sym typeface="Calibri"/>
            </a:endParaRPr>
          </a:p>
        </p:txBody>
      </p:sp>
      <p:sp>
        <p:nvSpPr>
          <p:cNvPr id="52" name="Google Shape;52;p4"/>
          <p:cNvSpPr/>
          <p:nvPr/>
        </p:nvSpPr>
        <p:spPr>
          <a:xfrm>
            <a:off x="182880" y="2468880"/>
            <a:ext cx="1874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~$4,550</a:t>
            </a:r>
            <a:endParaRPr b="0" i="0" sz="2200" u="none" cap="none" strike="noStrike">
              <a:solidFill>
                <a:schemeClr val="dk1"/>
              </a:solidFill>
              <a:latin typeface="Calibri"/>
              <a:ea typeface="Calibri"/>
              <a:cs typeface="Calibri"/>
              <a:sym typeface="Calibri"/>
            </a:endParaRPr>
          </a:p>
        </p:txBody>
      </p:sp>
      <p:sp>
        <p:nvSpPr>
          <p:cNvPr id="53" name="Google Shape;53;p4"/>
          <p:cNvSpPr/>
          <p:nvPr/>
        </p:nvSpPr>
        <p:spPr>
          <a:xfrm>
            <a:off x="182880" y="2907792"/>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-4% last week</a:t>
            </a:r>
            <a:endParaRPr b="0" i="0" sz="800" u="none" cap="none" strike="noStrike">
              <a:solidFill>
                <a:schemeClr val="dk1"/>
              </a:solidFill>
              <a:latin typeface="Calibri"/>
              <a:ea typeface="Calibri"/>
              <a:cs typeface="Calibri"/>
              <a:sym typeface="Calibri"/>
            </a:endParaRPr>
          </a:p>
        </p:txBody>
      </p:sp>
      <p:sp>
        <p:nvSpPr>
          <p:cNvPr id="54" name="Google Shape;54;p4"/>
          <p:cNvSpPr/>
          <p:nvPr/>
        </p:nvSpPr>
        <p:spPr>
          <a:xfrm>
            <a:off x="2212848" y="2194560"/>
            <a:ext cx="2057400" cy="987552"/>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2304288" y="2286000"/>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WTI CRUDE</a:t>
            </a:r>
            <a:endParaRPr b="0" i="0" sz="700" u="none" cap="none" strike="noStrike">
              <a:solidFill>
                <a:schemeClr val="dk1"/>
              </a:solidFill>
              <a:latin typeface="Calibri"/>
              <a:ea typeface="Calibri"/>
              <a:cs typeface="Calibri"/>
              <a:sym typeface="Calibri"/>
            </a:endParaRPr>
          </a:p>
        </p:txBody>
      </p:sp>
      <p:sp>
        <p:nvSpPr>
          <p:cNvPr id="56" name="Google Shape;56;p4"/>
          <p:cNvSpPr/>
          <p:nvPr/>
        </p:nvSpPr>
        <p:spPr>
          <a:xfrm>
            <a:off x="2304288" y="2468880"/>
            <a:ext cx="1874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&gt;$107</a:t>
            </a:r>
            <a:endParaRPr b="0" i="0" sz="2200" u="none" cap="none" strike="noStrike">
              <a:solidFill>
                <a:schemeClr val="dk1"/>
              </a:solidFill>
              <a:latin typeface="Calibri"/>
              <a:ea typeface="Calibri"/>
              <a:cs typeface="Calibri"/>
              <a:sym typeface="Calibri"/>
            </a:endParaRPr>
          </a:p>
        </p:txBody>
      </p:sp>
      <p:sp>
        <p:nvSpPr>
          <p:cNvPr id="57" name="Google Shape;57;p4"/>
          <p:cNvSpPr/>
          <p:nvPr/>
        </p:nvSpPr>
        <p:spPr>
          <a:xfrm>
            <a:off x="2304288" y="2907792"/>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+9%+ week-over-week</a:t>
            </a:r>
            <a:endParaRPr b="0" i="0" sz="800" u="none" cap="none" strike="noStrike">
              <a:solidFill>
                <a:schemeClr val="dk1"/>
              </a:solidFill>
              <a:latin typeface="Calibri"/>
              <a:ea typeface="Calibri"/>
              <a:cs typeface="Calibri"/>
              <a:sym typeface="Calibri"/>
            </a:endParaRPr>
          </a:p>
        </p:txBody>
      </p:sp>
      <p:sp>
        <p:nvSpPr>
          <p:cNvPr id="58" name="Google Shape;58;p4"/>
          <p:cNvSpPr/>
          <p:nvPr/>
        </p:nvSpPr>
        <p:spPr>
          <a:xfrm>
            <a:off x="4334256" y="2194560"/>
            <a:ext cx="2057400" cy="987552"/>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4425696" y="2286000"/>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10-YR YIELD</a:t>
            </a:r>
            <a:endParaRPr b="0" i="0" sz="700" u="none" cap="none" strike="noStrike">
              <a:solidFill>
                <a:schemeClr val="dk1"/>
              </a:solidFill>
              <a:latin typeface="Calibri"/>
              <a:ea typeface="Calibri"/>
              <a:cs typeface="Calibri"/>
              <a:sym typeface="Calibri"/>
            </a:endParaRPr>
          </a:p>
        </p:txBody>
      </p:sp>
      <p:sp>
        <p:nvSpPr>
          <p:cNvPr id="60" name="Google Shape;60;p4"/>
          <p:cNvSpPr/>
          <p:nvPr/>
        </p:nvSpPr>
        <p:spPr>
          <a:xfrm>
            <a:off x="4425696" y="2468880"/>
            <a:ext cx="1874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4.55%</a:t>
            </a:r>
            <a:endParaRPr b="0" i="0" sz="2200" u="none" cap="none" strike="noStrike">
              <a:solidFill>
                <a:schemeClr val="dk1"/>
              </a:solidFill>
              <a:latin typeface="Calibri"/>
              <a:ea typeface="Calibri"/>
              <a:cs typeface="Calibri"/>
              <a:sym typeface="Calibri"/>
            </a:endParaRPr>
          </a:p>
        </p:txBody>
      </p:sp>
      <p:sp>
        <p:nvSpPr>
          <p:cNvPr id="61" name="Google Shape;61;p4"/>
          <p:cNvSpPr/>
          <p:nvPr/>
        </p:nvSpPr>
        <p:spPr>
          <a:xfrm>
            <a:off x="4425696" y="2907792"/>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Near 1-year high</a:t>
            </a:r>
            <a:endParaRPr b="0" i="0" sz="800" u="none" cap="none" strike="noStrike">
              <a:solidFill>
                <a:schemeClr val="dk1"/>
              </a:solidFill>
              <a:latin typeface="Calibri"/>
              <a:ea typeface="Calibri"/>
              <a:cs typeface="Calibri"/>
              <a:sym typeface="Calibri"/>
            </a:endParaRPr>
          </a:p>
        </p:txBody>
      </p:sp>
      <p:sp>
        <p:nvSpPr>
          <p:cNvPr id="62" name="Google Shape;62;p4"/>
          <p:cNvSpPr/>
          <p:nvPr/>
        </p:nvSpPr>
        <p:spPr>
          <a:xfrm>
            <a:off x="6455664" y="2194560"/>
            <a:ext cx="2057400" cy="987552"/>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6547104" y="2286000"/>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FEAR &amp; GREED</a:t>
            </a:r>
            <a:endParaRPr b="0" i="0" sz="700" u="none" cap="none" strike="noStrike">
              <a:solidFill>
                <a:schemeClr val="dk1"/>
              </a:solidFill>
              <a:latin typeface="Calibri"/>
              <a:ea typeface="Calibri"/>
              <a:cs typeface="Calibri"/>
              <a:sym typeface="Calibri"/>
            </a:endParaRPr>
          </a:p>
        </p:txBody>
      </p:sp>
      <p:sp>
        <p:nvSpPr>
          <p:cNvPr id="64" name="Google Shape;64;p4"/>
          <p:cNvSpPr/>
          <p:nvPr/>
        </p:nvSpPr>
        <p:spPr>
          <a:xfrm>
            <a:off x="6547104" y="2468880"/>
            <a:ext cx="1874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28</a:t>
            </a:r>
            <a:endParaRPr b="0" i="0" sz="2200" u="none" cap="none" strike="noStrike">
              <a:solidFill>
                <a:schemeClr val="dk1"/>
              </a:solidFill>
              <a:latin typeface="Calibri"/>
              <a:ea typeface="Calibri"/>
              <a:cs typeface="Calibri"/>
              <a:sym typeface="Calibri"/>
            </a:endParaRPr>
          </a:p>
        </p:txBody>
      </p:sp>
      <p:sp>
        <p:nvSpPr>
          <p:cNvPr id="65" name="Google Shape;65;p4"/>
          <p:cNvSpPr/>
          <p:nvPr/>
        </p:nvSpPr>
        <p:spPr>
          <a:xfrm>
            <a:off x="6547104" y="2907792"/>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Fear territory</a:t>
            </a:r>
            <a:endParaRPr b="0" i="0" sz="800" u="none" cap="none" strike="noStrike">
              <a:solidFill>
                <a:schemeClr val="dk1"/>
              </a:solidFill>
              <a:latin typeface="Calibri"/>
              <a:ea typeface="Calibri"/>
              <a:cs typeface="Calibri"/>
              <a:sym typeface="Calibri"/>
            </a:endParaRPr>
          </a:p>
        </p:txBody>
      </p:sp>
      <p:sp>
        <p:nvSpPr>
          <p:cNvPr id="66" name="Google Shape;66;p4"/>
          <p:cNvSpPr/>
          <p:nvPr/>
        </p:nvSpPr>
        <p:spPr>
          <a:xfrm>
            <a:off x="365760" y="4846320"/>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C6E"/>
              </a:buClr>
              <a:buSzPts val="700"/>
              <a:buFont typeface="Calibri"/>
              <a:buNone/>
            </a:pPr>
            <a:r>
              <a:rPr b="0" i="0" lang="en-US" sz="700" u="none" cap="none" strike="noStrike">
                <a:solidFill>
                  <a:srgbClr val="4A5C6E"/>
                </a:solidFill>
                <a:latin typeface="Calibri"/>
                <a:ea typeface="Calibri"/>
                <a:cs typeface="Calibri"/>
                <a:sym typeface="Calibri"/>
              </a:rPr>
              <a:t>Decentralized Masters  |  Tyler  |  May 18, 2026  |  Educational only. Not financial advice.</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71" name="Shape 71"/>
        <p:cNvGrpSpPr/>
        <p:nvPr/>
      </p:nvGrpSpPr>
      <p:grpSpPr>
        <a:xfrm>
          <a:off x="0" y="0"/>
          <a:ext cx="0" cy="0"/>
          <a:chOff x="0" y="0"/>
          <a:chExt cx="0" cy="0"/>
        </a:xfrm>
      </p:grpSpPr>
      <p:sp>
        <p:nvSpPr>
          <p:cNvPr id="72" name="Google Shape;72;p5"/>
          <p:cNvSpPr/>
          <p:nvPr/>
        </p:nvSpPr>
        <p:spPr>
          <a:xfrm>
            <a:off x="365760" y="164592"/>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750"/>
              <a:buFont typeface="Calibri"/>
              <a:buNone/>
            </a:pPr>
            <a:r>
              <a:rPr b="1" i="0" lang="en-US" sz="750" u="none" cap="none" strike="noStrike">
                <a:solidFill>
                  <a:srgbClr val="C8A96E"/>
                </a:solidFill>
                <a:latin typeface="Calibri"/>
                <a:ea typeface="Calibri"/>
                <a:cs typeface="Calibri"/>
                <a:sym typeface="Calibri"/>
              </a:rPr>
              <a:t>CRYPTO — BITCOIN</a:t>
            </a:r>
            <a:endParaRPr b="0" i="0" sz="750" u="none" cap="none" strike="noStrike">
              <a:solidFill>
                <a:schemeClr val="dk1"/>
              </a:solidFill>
              <a:latin typeface="Calibri"/>
              <a:ea typeface="Calibri"/>
              <a:cs typeface="Calibri"/>
              <a:sym typeface="Calibri"/>
            </a:endParaRPr>
          </a:p>
        </p:txBody>
      </p:sp>
      <p:sp>
        <p:nvSpPr>
          <p:cNvPr id="73" name="Google Shape;73;p5"/>
          <p:cNvSpPr/>
          <p:nvPr/>
        </p:nvSpPr>
        <p:spPr>
          <a:xfrm>
            <a:off x="365760" y="402336"/>
            <a:ext cx="7315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Macro-Driven Washout — Structure Still Intact</a:t>
            </a:r>
            <a:endParaRPr b="0" i="0" sz="2600" u="none" cap="none" strike="noStrike">
              <a:solidFill>
                <a:schemeClr val="dk1"/>
              </a:solidFill>
              <a:latin typeface="Calibri"/>
              <a:ea typeface="Calibri"/>
              <a:cs typeface="Calibri"/>
              <a:sym typeface="Calibri"/>
            </a:endParaRPr>
          </a:p>
        </p:txBody>
      </p:sp>
      <p:sp>
        <p:nvSpPr>
          <p:cNvPr id="74" name="Google Shape;74;p5"/>
          <p:cNvSpPr/>
          <p:nvPr/>
        </p:nvSpPr>
        <p:spPr>
          <a:xfrm>
            <a:off x="8138160" y="73152"/>
            <a:ext cx="475488" cy="475488"/>
          </a:xfrm>
          <a:prstGeom prst="ellipse">
            <a:avLst/>
          </a:prstGeom>
          <a:solidFill>
            <a:srgbClr val="C8A96E"/>
          </a:solidFill>
          <a:ln cap="flat" cmpd="sng" w="12700">
            <a:solidFill>
              <a:srgbClr val="C8A9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 name="Google Shape;75;p5"/>
          <p:cNvPicPr preferRelativeResize="0"/>
          <p:nvPr/>
        </p:nvPicPr>
        <p:blipFill rotWithShape="1">
          <a:blip r:embed="rId3">
            <a:alphaModFix/>
          </a:blip>
          <a:srcRect b="0" l="0" r="0" t="0"/>
          <a:stretch/>
        </p:blipFill>
        <p:spPr>
          <a:xfrm>
            <a:off x="8193024" y="128016"/>
            <a:ext cx="365760" cy="365760"/>
          </a:xfrm>
          <a:prstGeom prst="rect">
            <a:avLst/>
          </a:prstGeom>
          <a:noFill/>
          <a:ln>
            <a:noFill/>
          </a:ln>
        </p:spPr>
      </p:pic>
      <p:sp>
        <p:nvSpPr>
          <p:cNvPr id="76" name="Google Shape;76;p5"/>
          <p:cNvSpPr/>
          <p:nvPr/>
        </p:nvSpPr>
        <p:spPr>
          <a:xfrm>
            <a:off x="365760" y="1115568"/>
            <a:ext cx="36576" cy="914400"/>
          </a:xfrm>
          <a:prstGeom prst="rect">
            <a:avLst/>
          </a:prstGeom>
          <a:solidFill>
            <a:srgbClr val="C8A96E"/>
          </a:solidFill>
          <a:ln cap="flat" cmpd="sng" w="12700">
            <a:solidFill>
              <a:srgbClr val="C8A9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502920" y="1115568"/>
            <a:ext cx="47548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Iran triggered the flush</a:t>
            </a:r>
            <a:endParaRPr b="0" i="0" sz="1100" u="none" cap="none" strike="noStrike">
              <a:solidFill>
                <a:schemeClr val="dk1"/>
              </a:solidFill>
              <a:latin typeface="Calibri"/>
              <a:ea typeface="Calibri"/>
              <a:cs typeface="Calibri"/>
              <a:sym typeface="Calibri"/>
            </a:endParaRPr>
          </a:p>
        </p:txBody>
      </p:sp>
      <p:sp>
        <p:nvSpPr>
          <p:cNvPr id="78" name="Google Shape;78;p5"/>
          <p:cNvSpPr/>
          <p:nvPr/>
        </p:nvSpPr>
        <p:spPr>
          <a:xfrm>
            <a:off x="502920" y="1371600"/>
            <a:ext cx="475488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899AA"/>
              </a:buClr>
              <a:buSzPts val="950"/>
              <a:buFont typeface="Calibri"/>
              <a:buNone/>
            </a:pPr>
            <a:r>
              <a:rPr b="0" i="0" lang="en-US" sz="950" u="none" cap="none" strike="noStrike">
                <a:solidFill>
                  <a:srgbClr val="8899AA"/>
                </a:solidFill>
                <a:latin typeface="Calibri"/>
                <a:ea typeface="Calibri"/>
                <a:cs typeface="Calibri"/>
                <a:sym typeface="Calibri"/>
              </a:rPr>
              <a:t>Trump's Sunday Truth Social post ('clock is ticking') hit after close. Oil spiked, equity futures opened weak, BTC broke below $77K in tandem. This is a macro risk-off cascade, not a BTC-specific event.</a:t>
            </a:r>
            <a:endParaRPr b="0" i="0" sz="950" u="none" cap="none" strike="noStrike">
              <a:solidFill>
                <a:schemeClr val="dk1"/>
              </a:solidFill>
              <a:latin typeface="Calibri"/>
              <a:ea typeface="Calibri"/>
              <a:cs typeface="Calibri"/>
              <a:sym typeface="Calibri"/>
            </a:endParaRPr>
          </a:p>
        </p:txBody>
      </p:sp>
      <p:sp>
        <p:nvSpPr>
          <p:cNvPr id="79" name="Google Shape;79;p5"/>
          <p:cNvSpPr/>
          <p:nvPr/>
        </p:nvSpPr>
        <p:spPr>
          <a:xfrm>
            <a:off x="365760" y="2212848"/>
            <a:ext cx="36576" cy="914400"/>
          </a:xfrm>
          <a:prstGeom prst="rect">
            <a:avLst/>
          </a:prstGeom>
          <a:solidFill>
            <a:srgbClr val="C8A96E"/>
          </a:solidFill>
          <a:ln cap="flat" cmpd="sng" w="12700">
            <a:solidFill>
              <a:srgbClr val="C8A9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502920" y="2212848"/>
            <a:ext cx="47548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$661M liquidated in 24hrs</a:t>
            </a:r>
            <a:endParaRPr b="0" i="0" sz="1100" u="none" cap="none" strike="noStrike">
              <a:solidFill>
                <a:schemeClr val="dk1"/>
              </a:solidFill>
              <a:latin typeface="Calibri"/>
              <a:ea typeface="Calibri"/>
              <a:cs typeface="Calibri"/>
              <a:sym typeface="Calibri"/>
            </a:endParaRPr>
          </a:p>
        </p:txBody>
      </p:sp>
      <p:sp>
        <p:nvSpPr>
          <p:cNvPr id="81" name="Google Shape;81;p5"/>
          <p:cNvSpPr/>
          <p:nvPr/>
        </p:nvSpPr>
        <p:spPr>
          <a:xfrm>
            <a:off x="502920" y="2468880"/>
            <a:ext cx="475488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899AA"/>
              </a:buClr>
              <a:buSzPts val="950"/>
              <a:buFont typeface="Calibri"/>
              <a:buNone/>
            </a:pPr>
            <a:r>
              <a:rPr b="0" i="0" lang="en-US" sz="950" u="none" cap="none" strike="noStrike">
                <a:solidFill>
                  <a:srgbClr val="8899AA"/>
                </a:solidFill>
                <a:latin typeface="Calibri"/>
                <a:ea typeface="Calibri"/>
                <a:cs typeface="Calibri"/>
                <a:sym typeface="Calibri"/>
              </a:rPr>
              <a:t>Nearly 95% from longs. Classic overleveraged-long washout. Market was positioned bullish heading into the weekend. Funding has now reset — that's actually constructive.</a:t>
            </a:r>
            <a:endParaRPr b="0" i="0" sz="950" u="none" cap="none" strike="noStrike">
              <a:solidFill>
                <a:schemeClr val="dk1"/>
              </a:solidFill>
              <a:latin typeface="Calibri"/>
              <a:ea typeface="Calibri"/>
              <a:cs typeface="Calibri"/>
              <a:sym typeface="Calibri"/>
            </a:endParaRPr>
          </a:p>
        </p:txBody>
      </p:sp>
      <p:sp>
        <p:nvSpPr>
          <p:cNvPr id="82" name="Google Shape;82;p5"/>
          <p:cNvSpPr/>
          <p:nvPr/>
        </p:nvSpPr>
        <p:spPr>
          <a:xfrm>
            <a:off x="365760" y="3310128"/>
            <a:ext cx="36576" cy="914400"/>
          </a:xfrm>
          <a:prstGeom prst="rect">
            <a:avLst/>
          </a:prstGeom>
          <a:solidFill>
            <a:srgbClr val="C8A96E"/>
          </a:solidFill>
          <a:ln cap="flat" cmpd="sng" w="12700">
            <a:solidFill>
              <a:srgbClr val="C8A9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502920" y="3310128"/>
            <a:ext cx="47548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Higher-timeframe structure intact</a:t>
            </a:r>
            <a:endParaRPr b="0" i="0" sz="1100" u="none" cap="none" strike="noStrike">
              <a:solidFill>
                <a:schemeClr val="dk1"/>
              </a:solidFill>
              <a:latin typeface="Calibri"/>
              <a:ea typeface="Calibri"/>
              <a:cs typeface="Calibri"/>
              <a:sym typeface="Calibri"/>
            </a:endParaRPr>
          </a:p>
        </p:txBody>
      </p:sp>
      <p:sp>
        <p:nvSpPr>
          <p:cNvPr id="84" name="Google Shape;84;p5"/>
          <p:cNvSpPr/>
          <p:nvPr/>
        </p:nvSpPr>
        <p:spPr>
          <a:xfrm>
            <a:off x="502920" y="3566160"/>
            <a:ext cx="4754880" cy="65836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899AA"/>
              </a:buClr>
              <a:buSzPts val="950"/>
              <a:buFont typeface="Calibri"/>
              <a:buNone/>
            </a:pPr>
            <a:r>
              <a:rPr b="0" i="0" lang="en-US" sz="950" u="none" cap="none" strike="noStrike">
                <a:solidFill>
                  <a:srgbClr val="8899AA"/>
                </a:solidFill>
                <a:latin typeface="Calibri"/>
                <a:ea typeface="Calibri"/>
                <a:cs typeface="Calibri"/>
                <a:sym typeface="Calibri"/>
              </a:rPr>
              <a:t>Three consecutive daily losses but the broader structure hasn't broken. Key support: ~$73,700. Resistance: ~$84,500. We're mid-range. Don't over-read single-day candles.</a:t>
            </a:r>
            <a:endParaRPr b="0" i="0" sz="950" u="none" cap="none" strike="noStrike">
              <a:solidFill>
                <a:schemeClr val="dk1"/>
              </a:solidFill>
              <a:latin typeface="Calibri"/>
              <a:ea typeface="Calibri"/>
              <a:cs typeface="Calibri"/>
              <a:sym typeface="Calibri"/>
            </a:endParaRPr>
          </a:p>
        </p:txBody>
      </p:sp>
      <p:sp>
        <p:nvSpPr>
          <p:cNvPr id="85" name="Google Shape;85;p5"/>
          <p:cNvSpPr/>
          <p:nvPr/>
        </p:nvSpPr>
        <p:spPr>
          <a:xfrm>
            <a:off x="5532120" y="1115568"/>
            <a:ext cx="3246120" cy="100584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5623560" y="1207008"/>
            <a:ext cx="30632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SUPPORT</a:t>
            </a:r>
            <a:endParaRPr b="0" i="0" sz="700" u="none" cap="none" strike="noStrike">
              <a:solidFill>
                <a:schemeClr val="dk1"/>
              </a:solidFill>
              <a:latin typeface="Calibri"/>
              <a:ea typeface="Calibri"/>
              <a:cs typeface="Calibri"/>
              <a:sym typeface="Calibri"/>
            </a:endParaRPr>
          </a:p>
        </p:txBody>
      </p:sp>
      <p:sp>
        <p:nvSpPr>
          <p:cNvPr id="87" name="Google Shape;87;p5"/>
          <p:cNvSpPr/>
          <p:nvPr/>
        </p:nvSpPr>
        <p:spPr>
          <a:xfrm>
            <a:off x="5623560" y="1389888"/>
            <a:ext cx="3063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$73,700</a:t>
            </a:r>
            <a:endParaRPr b="0" i="0" sz="2200" u="none" cap="none" strike="noStrike">
              <a:solidFill>
                <a:schemeClr val="dk1"/>
              </a:solidFill>
              <a:latin typeface="Calibri"/>
              <a:ea typeface="Calibri"/>
              <a:cs typeface="Calibri"/>
              <a:sym typeface="Calibri"/>
            </a:endParaRPr>
          </a:p>
        </p:txBody>
      </p:sp>
      <p:sp>
        <p:nvSpPr>
          <p:cNvPr id="88" name="Google Shape;88;p5"/>
          <p:cNvSpPr/>
          <p:nvPr/>
        </p:nvSpPr>
        <p:spPr>
          <a:xfrm>
            <a:off x="5623560" y="1828800"/>
            <a:ext cx="30632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Key band to watch on continuation</a:t>
            </a:r>
            <a:endParaRPr b="0" i="0" sz="800" u="none" cap="none" strike="noStrike">
              <a:solidFill>
                <a:schemeClr val="dk1"/>
              </a:solidFill>
              <a:latin typeface="Calibri"/>
              <a:ea typeface="Calibri"/>
              <a:cs typeface="Calibri"/>
              <a:sym typeface="Calibri"/>
            </a:endParaRPr>
          </a:p>
        </p:txBody>
      </p:sp>
      <p:sp>
        <p:nvSpPr>
          <p:cNvPr id="89" name="Google Shape;89;p5"/>
          <p:cNvSpPr/>
          <p:nvPr/>
        </p:nvSpPr>
        <p:spPr>
          <a:xfrm>
            <a:off x="5532120" y="2304288"/>
            <a:ext cx="3246120" cy="100584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5623560" y="2395728"/>
            <a:ext cx="30632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RESISTANCE</a:t>
            </a:r>
            <a:endParaRPr b="0" i="0" sz="700" u="none" cap="none" strike="noStrike">
              <a:solidFill>
                <a:schemeClr val="dk1"/>
              </a:solidFill>
              <a:latin typeface="Calibri"/>
              <a:ea typeface="Calibri"/>
              <a:cs typeface="Calibri"/>
              <a:sym typeface="Calibri"/>
            </a:endParaRPr>
          </a:p>
        </p:txBody>
      </p:sp>
      <p:sp>
        <p:nvSpPr>
          <p:cNvPr id="91" name="Google Shape;91;p5"/>
          <p:cNvSpPr/>
          <p:nvPr/>
        </p:nvSpPr>
        <p:spPr>
          <a:xfrm>
            <a:off x="5623560" y="2578608"/>
            <a:ext cx="3063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FA5"/>
              </a:buClr>
              <a:buSzPts val="2200"/>
              <a:buFont typeface="Calibri"/>
              <a:buNone/>
            </a:pPr>
            <a:r>
              <a:rPr b="1" i="0" lang="en-US" sz="2200" u="none" cap="none" strike="noStrike">
                <a:solidFill>
                  <a:srgbClr val="00BFA5"/>
                </a:solidFill>
                <a:latin typeface="Calibri"/>
                <a:ea typeface="Calibri"/>
                <a:cs typeface="Calibri"/>
                <a:sym typeface="Calibri"/>
              </a:rPr>
              <a:t>$84,500</a:t>
            </a:r>
            <a:endParaRPr b="0" i="0" sz="2200" u="none" cap="none" strike="noStrike">
              <a:solidFill>
                <a:schemeClr val="dk1"/>
              </a:solidFill>
              <a:latin typeface="Calibri"/>
              <a:ea typeface="Calibri"/>
              <a:cs typeface="Calibri"/>
              <a:sym typeface="Calibri"/>
            </a:endParaRPr>
          </a:p>
        </p:txBody>
      </p:sp>
      <p:sp>
        <p:nvSpPr>
          <p:cNvPr id="92" name="Google Shape;92;p5"/>
          <p:cNvSpPr/>
          <p:nvPr/>
        </p:nvSpPr>
        <p:spPr>
          <a:xfrm>
            <a:off x="5623560" y="3017520"/>
            <a:ext cx="30632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Must reclaim for momentum trade</a:t>
            </a:r>
            <a:endParaRPr b="0" i="0" sz="800" u="none" cap="none" strike="noStrike">
              <a:solidFill>
                <a:schemeClr val="dk1"/>
              </a:solidFill>
              <a:latin typeface="Calibri"/>
              <a:ea typeface="Calibri"/>
              <a:cs typeface="Calibri"/>
              <a:sym typeface="Calibri"/>
            </a:endParaRPr>
          </a:p>
        </p:txBody>
      </p:sp>
      <p:sp>
        <p:nvSpPr>
          <p:cNvPr id="93" name="Google Shape;93;p5"/>
          <p:cNvSpPr/>
          <p:nvPr/>
        </p:nvSpPr>
        <p:spPr>
          <a:xfrm>
            <a:off x="5532120" y="3493008"/>
            <a:ext cx="3246120" cy="100584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5623560" y="3584448"/>
            <a:ext cx="30632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LONGS LIQ'D</a:t>
            </a:r>
            <a:endParaRPr b="0" i="0" sz="700" u="none" cap="none" strike="noStrike">
              <a:solidFill>
                <a:schemeClr val="dk1"/>
              </a:solidFill>
              <a:latin typeface="Calibri"/>
              <a:ea typeface="Calibri"/>
              <a:cs typeface="Calibri"/>
              <a:sym typeface="Calibri"/>
            </a:endParaRPr>
          </a:p>
        </p:txBody>
      </p:sp>
      <p:sp>
        <p:nvSpPr>
          <p:cNvPr id="95" name="Google Shape;95;p5"/>
          <p:cNvSpPr/>
          <p:nvPr/>
        </p:nvSpPr>
        <p:spPr>
          <a:xfrm>
            <a:off x="5623560" y="3767328"/>
            <a:ext cx="3063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$661M</a:t>
            </a:r>
            <a:endParaRPr b="0" i="0" sz="2200" u="none" cap="none" strike="noStrike">
              <a:solidFill>
                <a:schemeClr val="dk1"/>
              </a:solidFill>
              <a:latin typeface="Calibri"/>
              <a:ea typeface="Calibri"/>
              <a:cs typeface="Calibri"/>
              <a:sym typeface="Calibri"/>
            </a:endParaRPr>
          </a:p>
        </p:txBody>
      </p:sp>
      <p:sp>
        <p:nvSpPr>
          <p:cNvPr id="96" name="Google Shape;96;p5"/>
          <p:cNvSpPr/>
          <p:nvPr/>
        </p:nvSpPr>
        <p:spPr>
          <a:xfrm>
            <a:off x="5623560" y="4206240"/>
            <a:ext cx="306324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95% from long positions (24hrs)</a:t>
            </a:r>
            <a:endParaRPr b="0" i="0" sz="800" u="none" cap="none" strike="noStrike">
              <a:solidFill>
                <a:schemeClr val="dk1"/>
              </a:solidFill>
              <a:latin typeface="Calibri"/>
              <a:ea typeface="Calibri"/>
              <a:cs typeface="Calibri"/>
              <a:sym typeface="Calibri"/>
            </a:endParaRPr>
          </a:p>
        </p:txBody>
      </p:sp>
      <p:sp>
        <p:nvSpPr>
          <p:cNvPr id="97" name="Google Shape;97;p5"/>
          <p:cNvSpPr/>
          <p:nvPr/>
        </p:nvSpPr>
        <p:spPr>
          <a:xfrm>
            <a:off x="365760" y="4846320"/>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C6E"/>
              </a:buClr>
              <a:buSzPts val="700"/>
              <a:buFont typeface="Calibri"/>
              <a:buNone/>
            </a:pPr>
            <a:r>
              <a:rPr b="0" i="0" lang="en-US" sz="700" u="none" cap="none" strike="noStrike">
                <a:solidFill>
                  <a:srgbClr val="4A5C6E"/>
                </a:solidFill>
                <a:latin typeface="Calibri"/>
                <a:ea typeface="Calibri"/>
                <a:cs typeface="Calibri"/>
                <a:sym typeface="Calibri"/>
              </a:rPr>
              <a:t>Decentralized Masters  |  Tyler  |  May 18, 2026  |  Educational only. Not financial advice.</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02" name="Shape 102"/>
        <p:cNvGrpSpPr/>
        <p:nvPr/>
      </p:nvGrpSpPr>
      <p:grpSpPr>
        <a:xfrm>
          <a:off x="0" y="0"/>
          <a:ext cx="0" cy="0"/>
          <a:chOff x="0" y="0"/>
          <a:chExt cx="0" cy="0"/>
        </a:xfrm>
      </p:grpSpPr>
      <p:sp>
        <p:nvSpPr>
          <p:cNvPr id="103" name="Google Shape;103;p6"/>
          <p:cNvSpPr/>
          <p:nvPr/>
        </p:nvSpPr>
        <p:spPr>
          <a:xfrm>
            <a:off x="365760" y="164592"/>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750"/>
              <a:buFont typeface="Calibri"/>
              <a:buNone/>
            </a:pPr>
            <a:r>
              <a:rPr b="1" i="0" lang="en-US" sz="750" u="none" cap="none" strike="noStrike">
                <a:solidFill>
                  <a:srgbClr val="C8A96E"/>
                </a:solidFill>
                <a:latin typeface="Calibri"/>
                <a:ea typeface="Calibri"/>
                <a:cs typeface="Calibri"/>
                <a:sym typeface="Calibri"/>
              </a:rPr>
              <a:t>CRYPTO — ETHEREUM &amp; ETF FLOWS</a:t>
            </a:r>
            <a:endParaRPr b="0" i="0" sz="750" u="none" cap="none" strike="noStrike">
              <a:solidFill>
                <a:schemeClr val="dk1"/>
              </a:solidFill>
              <a:latin typeface="Calibri"/>
              <a:ea typeface="Calibri"/>
              <a:cs typeface="Calibri"/>
              <a:sym typeface="Calibri"/>
            </a:endParaRPr>
          </a:p>
        </p:txBody>
      </p:sp>
      <p:sp>
        <p:nvSpPr>
          <p:cNvPr id="104" name="Google Shape;104;p6"/>
          <p:cNvSpPr/>
          <p:nvPr/>
        </p:nvSpPr>
        <p:spPr>
          <a:xfrm>
            <a:off x="365760" y="402336"/>
            <a:ext cx="7315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Institutional Caution, Not Capitulation</a:t>
            </a:r>
            <a:endParaRPr b="0" i="0" sz="2600" u="none" cap="none" strike="noStrike">
              <a:solidFill>
                <a:schemeClr val="dk1"/>
              </a:solidFill>
              <a:latin typeface="Calibri"/>
              <a:ea typeface="Calibri"/>
              <a:cs typeface="Calibri"/>
              <a:sym typeface="Calibri"/>
            </a:endParaRPr>
          </a:p>
        </p:txBody>
      </p:sp>
      <p:sp>
        <p:nvSpPr>
          <p:cNvPr id="105" name="Google Shape;105;p6"/>
          <p:cNvSpPr/>
          <p:nvPr/>
        </p:nvSpPr>
        <p:spPr>
          <a:xfrm>
            <a:off x="8138160" y="73152"/>
            <a:ext cx="475488" cy="475488"/>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6" name="Google Shape;106;p6"/>
          <p:cNvPicPr preferRelativeResize="0"/>
          <p:nvPr/>
        </p:nvPicPr>
        <p:blipFill rotWithShape="1">
          <a:blip r:embed="rId3">
            <a:alphaModFix/>
          </a:blip>
          <a:srcRect b="0" l="0" r="0" t="0"/>
          <a:stretch/>
        </p:blipFill>
        <p:spPr>
          <a:xfrm>
            <a:off x="8193024" y="128016"/>
            <a:ext cx="365760" cy="365760"/>
          </a:xfrm>
          <a:prstGeom prst="rect">
            <a:avLst/>
          </a:prstGeom>
          <a:noFill/>
          <a:ln>
            <a:noFill/>
          </a:ln>
        </p:spPr>
      </p:pic>
      <p:sp>
        <p:nvSpPr>
          <p:cNvPr id="107" name="Google Shape;107;p6"/>
          <p:cNvSpPr/>
          <p:nvPr/>
        </p:nvSpPr>
        <p:spPr>
          <a:xfrm>
            <a:off x="36576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45720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ETH PRICE</a:t>
            </a:r>
            <a:endParaRPr b="0" i="0" sz="700" u="none" cap="none" strike="noStrike">
              <a:solidFill>
                <a:schemeClr val="dk1"/>
              </a:solidFill>
              <a:latin typeface="Calibri"/>
              <a:ea typeface="Calibri"/>
              <a:cs typeface="Calibri"/>
              <a:sym typeface="Calibri"/>
            </a:endParaRPr>
          </a:p>
        </p:txBody>
      </p:sp>
      <p:sp>
        <p:nvSpPr>
          <p:cNvPr id="109" name="Google Shape;109;p6"/>
          <p:cNvSpPr/>
          <p:nvPr/>
        </p:nvSpPr>
        <p:spPr>
          <a:xfrm>
            <a:off x="45720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~$2,120</a:t>
            </a:r>
            <a:endParaRPr b="0" i="0" sz="2200" u="none" cap="none" strike="noStrike">
              <a:solidFill>
                <a:schemeClr val="dk1"/>
              </a:solidFill>
              <a:latin typeface="Calibri"/>
              <a:ea typeface="Calibri"/>
              <a:cs typeface="Calibri"/>
              <a:sym typeface="Calibri"/>
            </a:endParaRPr>
          </a:p>
        </p:txBody>
      </p:sp>
      <p:sp>
        <p:nvSpPr>
          <p:cNvPr id="110" name="Google Shape;110;p6"/>
          <p:cNvSpPr/>
          <p:nvPr/>
        </p:nvSpPr>
        <p:spPr>
          <a:xfrm>
            <a:off x="45720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4 consec. daily losses</a:t>
            </a:r>
            <a:endParaRPr b="0" i="0" sz="800" u="none" cap="none" strike="noStrike">
              <a:solidFill>
                <a:schemeClr val="dk1"/>
              </a:solidFill>
              <a:latin typeface="Calibri"/>
              <a:ea typeface="Calibri"/>
              <a:cs typeface="Calibri"/>
              <a:sym typeface="Calibri"/>
            </a:endParaRPr>
          </a:p>
        </p:txBody>
      </p:sp>
      <p:sp>
        <p:nvSpPr>
          <p:cNvPr id="111" name="Google Shape;111;p6"/>
          <p:cNvSpPr/>
          <p:nvPr/>
        </p:nvSpPr>
        <p:spPr>
          <a:xfrm>
            <a:off x="251460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260604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ETH/BTC PAIR</a:t>
            </a:r>
            <a:endParaRPr b="0" i="0" sz="700" u="none" cap="none" strike="noStrike">
              <a:solidFill>
                <a:schemeClr val="dk1"/>
              </a:solidFill>
              <a:latin typeface="Calibri"/>
              <a:ea typeface="Calibri"/>
              <a:cs typeface="Calibri"/>
              <a:sym typeface="Calibri"/>
            </a:endParaRPr>
          </a:p>
        </p:txBody>
      </p:sp>
      <p:sp>
        <p:nvSpPr>
          <p:cNvPr id="113" name="Google Shape;113;p6"/>
          <p:cNvSpPr/>
          <p:nvPr/>
        </p:nvSpPr>
        <p:spPr>
          <a:xfrm>
            <a:off x="260604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4th Loss</a:t>
            </a:r>
            <a:endParaRPr b="0" i="0" sz="2200" u="none" cap="none" strike="noStrike">
              <a:solidFill>
                <a:schemeClr val="dk1"/>
              </a:solidFill>
              <a:latin typeface="Calibri"/>
              <a:ea typeface="Calibri"/>
              <a:cs typeface="Calibri"/>
              <a:sym typeface="Calibri"/>
            </a:endParaRPr>
          </a:p>
        </p:txBody>
      </p:sp>
      <p:sp>
        <p:nvSpPr>
          <p:cNvPr id="114" name="Google Shape;114;p6"/>
          <p:cNvSpPr/>
          <p:nvPr/>
        </p:nvSpPr>
        <p:spPr>
          <a:xfrm>
            <a:off x="260604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Consecutive daily decline</a:t>
            </a:r>
            <a:endParaRPr b="0" i="0" sz="800" u="none" cap="none" strike="noStrike">
              <a:solidFill>
                <a:schemeClr val="dk1"/>
              </a:solidFill>
              <a:latin typeface="Calibri"/>
              <a:ea typeface="Calibri"/>
              <a:cs typeface="Calibri"/>
              <a:sym typeface="Calibri"/>
            </a:endParaRPr>
          </a:p>
        </p:txBody>
      </p:sp>
      <p:sp>
        <p:nvSpPr>
          <p:cNvPr id="115" name="Google Shape;115;p6"/>
          <p:cNvSpPr/>
          <p:nvPr/>
        </p:nvSpPr>
        <p:spPr>
          <a:xfrm>
            <a:off x="466344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475488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ALT DOMINANCE</a:t>
            </a:r>
            <a:endParaRPr b="0" i="0" sz="700" u="none" cap="none" strike="noStrike">
              <a:solidFill>
                <a:schemeClr val="dk1"/>
              </a:solidFill>
              <a:latin typeface="Calibri"/>
              <a:ea typeface="Calibri"/>
              <a:cs typeface="Calibri"/>
              <a:sym typeface="Calibri"/>
            </a:endParaRPr>
          </a:p>
        </p:txBody>
      </p:sp>
      <p:sp>
        <p:nvSpPr>
          <p:cNvPr id="117" name="Google Shape;117;p6"/>
          <p:cNvSpPr/>
          <p:nvPr/>
        </p:nvSpPr>
        <p:spPr>
          <a:xfrm>
            <a:off x="475488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39.2%</a:t>
            </a:r>
            <a:endParaRPr b="0" i="0" sz="2200" u="none" cap="none" strike="noStrike">
              <a:solidFill>
                <a:schemeClr val="dk1"/>
              </a:solidFill>
              <a:latin typeface="Calibri"/>
              <a:ea typeface="Calibri"/>
              <a:cs typeface="Calibri"/>
              <a:sym typeface="Calibri"/>
            </a:endParaRPr>
          </a:p>
        </p:txBody>
      </p:sp>
      <p:sp>
        <p:nvSpPr>
          <p:cNvPr id="118" name="Google Shape;118;p6"/>
          <p:cNvSpPr/>
          <p:nvPr/>
        </p:nvSpPr>
        <p:spPr>
          <a:xfrm>
            <a:off x="475488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Risk tightening signal</a:t>
            </a:r>
            <a:endParaRPr b="0" i="0" sz="800" u="none" cap="none" strike="noStrike">
              <a:solidFill>
                <a:schemeClr val="dk1"/>
              </a:solidFill>
              <a:latin typeface="Calibri"/>
              <a:ea typeface="Calibri"/>
              <a:cs typeface="Calibri"/>
              <a:sym typeface="Calibri"/>
            </a:endParaRPr>
          </a:p>
        </p:txBody>
      </p:sp>
      <p:sp>
        <p:nvSpPr>
          <p:cNvPr id="119" name="Google Shape;119;p6"/>
          <p:cNvSpPr/>
          <p:nvPr/>
        </p:nvSpPr>
        <p:spPr>
          <a:xfrm>
            <a:off x="681228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690372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ETH ETF FLOWS</a:t>
            </a:r>
            <a:endParaRPr b="0" i="0" sz="700" u="none" cap="none" strike="noStrike">
              <a:solidFill>
                <a:schemeClr val="dk1"/>
              </a:solidFill>
              <a:latin typeface="Calibri"/>
              <a:ea typeface="Calibri"/>
              <a:cs typeface="Calibri"/>
              <a:sym typeface="Calibri"/>
            </a:endParaRPr>
          </a:p>
        </p:txBody>
      </p:sp>
      <p:sp>
        <p:nvSpPr>
          <p:cNvPr id="121" name="Google Shape;121;p6"/>
          <p:cNvSpPr/>
          <p:nvPr/>
        </p:nvSpPr>
        <p:spPr>
          <a:xfrm>
            <a:off x="690372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-$255M</a:t>
            </a:r>
            <a:endParaRPr b="0" i="0" sz="2200" u="none" cap="none" strike="noStrike">
              <a:solidFill>
                <a:schemeClr val="dk1"/>
              </a:solidFill>
              <a:latin typeface="Calibri"/>
              <a:ea typeface="Calibri"/>
              <a:cs typeface="Calibri"/>
              <a:sym typeface="Calibri"/>
            </a:endParaRPr>
          </a:p>
        </p:txBody>
      </p:sp>
      <p:sp>
        <p:nvSpPr>
          <p:cNvPr id="122" name="Google Shape;122;p6"/>
          <p:cNvSpPr/>
          <p:nvPr/>
        </p:nvSpPr>
        <p:spPr>
          <a:xfrm>
            <a:off x="690372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5-day negative streak</a:t>
            </a:r>
            <a:endParaRPr b="0" i="0" sz="800" u="none" cap="none" strike="noStrike">
              <a:solidFill>
                <a:schemeClr val="dk1"/>
              </a:solidFill>
              <a:latin typeface="Calibri"/>
              <a:ea typeface="Calibri"/>
              <a:cs typeface="Calibri"/>
              <a:sym typeface="Calibri"/>
            </a:endParaRPr>
          </a:p>
        </p:txBody>
      </p:sp>
      <p:sp>
        <p:nvSpPr>
          <p:cNvPr id="123" name="Google Shape;123;p6"/>
          <p:cNvSpPr/>
          <p:nvPr/>
        </p:nvSpPr>
        <p:spPr>
          <a:xfrm>
            <a:off x="365760" y="2212848"/>
            <a:ext cx="8412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1000"/>
              <a:buFont typeface="Calibri"/>
              <a:buNone/>
            </a:pPr>
            <a:r>
              <a:rPr b="1" i="0" lang="en-US" sz="1000" u="none" cap="none" strike="noStrike">
                <a:solidFill>
                  <a:srgbClr val="C8A96E"/>
                </a:solidFill>
                <a:latin typeface="Calibri"/>
                <a:ea typeface="Calibri"/>
                <a:cs typeface="Calibri"/>
                <a:sym typeface="Calibri"/>
              </a:rPr>
              <a:t>BTC ETF WEEKLY FLOWS — THE REVERSAL</a:t>
            </a:r>
            <a:endParaRPr b="0" i="0" sz="1000" u="none" cap="none" strike="noStrike">
              <a:solidFill>
                <a:schemeClr val="dk1"/>
              </a:solidFill>
              <a:latin typeface="Calibri"/>
              <a:ea typeface="Calibri"/>
              <a:cs typeface="Calibri"/>
              <a:sym typeface="Calibri"/>
            </a:endParaRPr>
          </a:p>
        </p:txBody>
      </p:sp>
      <p:sp>
        <p:nvSpPr>
          <p:cNvPr id="124" name="Google Shape;124;p6"/>
          <p:cNvSpPr/>
          <p:nvPr/>
        </p:nvSpPr>
        <p:spPr>
          <a:xfrm>
            <a:off x="365760" y="2532888"/>
            <a:ext cx="777240" cy="256032"/>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p:nvPr/>
        </p:nvSpPr>
        <p:spPr>
          <a:xfrm>
            <a:off x="384048" y="2542032"/>
            <a:ext cx="740664"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750"/>
              <a:buFont typeface="Calibri"/>
              <a:buNone/>
            </a:pPr>
            <a:r>
              <a:rPr b="1" i="0" lang="en-US" sz="750" u="none" cap="none" strike="noStrike">
                <a:solidFill>
                  <a:srgbClr val="0D1B2A"/>
                </a:solidFill>
                <a:latin typeface="Calibri"/>
                <a:ea typeface="Calibri"/>
                <a:cs typeface="Calibri"/>
                <a:sym typeface="Calibri"/>
              </a:rPr>
              <a:t>May 12</a:t>
            </a:r>
            <a:endParaRPr b="0" i="0" sz="750" u="none" cap="none" strike="noStrike">
              <a:solidFill>
                <a:schemeClr val="dk1"/>
              </a:solidFill>
              <a:latin typeface="Calibri"/>
              <a:ea typeface="Calibri"/>
              <a:cs typeface="Calibri"/>
              <a:sym typeface="Calibri"/>
            </a:endParaRPr>
          </a:p>
        </p:txBody>
      </p:sp>
      <p:sp>
        <p:nvSpPr>
          <p:cNvPr id="126" name="Google Shape;126;p6"/>
          <p:cNvSpPr/>
          <p:nvPr/>
        </p:nvSpPr>
        <p:spPr>
          <a:xfrm>
            <a:off x="1234440" y="2542032"/>
            <a:ext cx="749808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+$220M inflows — strong session, 21Shares HYPE ETF ($THYP) debuts with $1.2M day-1.</a:t>
            </a:r>
            <a:endParaRPr b="0" i="0" sz="900" u="none" cap="none" strike="noStrike">
              <a:solidFill>
                <a:schemeClr val="dk1"/>
              </a:solidFill>
              <a:latin typeface="Calibri"/>
              <a:ea typeface="Calibri"/>
              <a:cs typeface="Calibri"/>
              <a:sym typeface="Calibri"/>
            </a:endParaRPr>
          </a:p>
        </p:txBody>
      </p:sp>
      <p:sp>
        <p:nvSpPr>
          <p:cNvPr id="127" name="Google Shape;127;p6"/>
          <p:cNvSpPr/>
          <p:nvPr/>
        </p:nvSpPr>
        <p:spPr>
          <a:xfrm>
            <a:off x="365760" y="2962656"/>
            <a:ext cx="777240" cy="256032"/>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384048" y="2971800"/>
            <a:ext cx="740664"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750"/>
              <a:buFont typeface="Calibri"/>
              <a:buNone/>
            </a:pPr>
            <a:r>
              <a:rPr b="1" i="0" lang="en-US" sz="750" u="none" cap="none" strike="noStrike">
                <a:solidFill>
                  <a:srgbClr val="0D1B2A"/>
                </a:solidFill>
                <a:latin typeface="Calibri"/>
                <a:ea typeface="Calibri"/>
                <a:cs typeface="Calibri"/>
                <a:sym typeface="Calibri"/>
              </a:rPr>
              <a:t>May 13</a:t>
            </a:r>
            <a:endParaRPr b="0" i="0" sz="750" u="none" cap="none" strike="noStrike">
              <a:solidFill>
                <a:schemeClr val="dk1"/>
              </a:solidFill>
              <a:latin typeface="Calibri"/>
              <a:ea typeface="Calibri"/>
              <a:cs typeface="Calibri"/>
              <a:sym typeface="Calibri"/>
            </a:endParaRPr>
          </a:p>
        </p:txBody>
      </p:sp>
      <p:sp>
        <p:nvSpPr>
          <p:cNvPr id="129" name="Google Shape;129;p6"/>
          <p:cNvSpPr/>
          <p:nvPr/>
        </p:nvSpPr>
        <p:spPr>
          <a:xfrm>
            <a:off x="1234440" y="2971800"/>
            <a:ext cx="749808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-$635M — largest single-day outflow since late January. Hot CPI (3.8%) the trigger.</a:t>
            </a:r>
            <a:endParaRPr b="0" i="0" sz="900" u="none" cap="none" strike="noStrike">
              <a:solidFill>
                <a:schemeClr val="dk1"/>
              </a:solidFill>
              <a:latin typeface="Calibri"/>
              <a:ea typeface="Calibri"/>
              <a:cs typeface="Calibri"/>
              <a:sym typeface="Calibri"/>
            </a:endParaRPr>
          </a:p>
        </p:txBody>
      </p:sp>
      <p:sp>
        <p:nvSpPr>
          <p:cNvPr id="130" name="Google Shape;130;p6"/>
          <p:cNvSpPr/>
          <p:nvPr/>
        </p:nvSpPr>
        <p:spPr>
          <a:xfrm>
            <a:off x="365760" y="3392424"/>
            <a:ext cx="777240" cy="256032"/>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384048" y="3401568"/>
            <a:ext cx="740664"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750"/>
              <a:buFont typeface="Calibri"/>
              <a:buNone/>
            </a:pPr>
            <a:r>
              <a:rPr b="1" i="0" lang="en-US" sz="750" u="none" cap="none" strike="noStrike">
                <a:solidFill>
                  <a:srgbClr val="0D1B2A"/>
                </a:solidFill>
                <a:latin typeface="Calibri"/>
                <a:ea typeface="Calibri"/>
                <a:cs typeface="Calibri"/>
                <a:sym typeface="Calibri"/>
              </a:rPr>
              <a:t>May 14</a:t>
            </a:r>
            <a:endParaRPr b="0" i="0" sz="750" u="none" cap="none" strike="noStrike">
              <a:solidFill>
                <a:schemeClr val="dk1"/>
              </a:solidFill>
              <a:latin typeface="Calibri"/>
              <a:ea typeface="Calibri"/>
              <a:cs typeface="Calibri"/>
              <a:sym typeface="Calibri"/>
            </a:endParaRPr>
          </a:p>
        </p:txBody>
      </p:sp>
      <p:sp>
        <p:nvSpPr>
          <p:cNvPr id="132" name="Google Shape;132;p6"/>
          <p:cNvSpPr/>
          <p:nvPr/>
        </p:nvSpPr>
        <p:spPr>
          <a:xfrm>
            <a:off x="1234440" y="3401568"/>
            <a:ext cx="749808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+$131M partial rebound. 7 of 11 ETFs positive, but couldn't hold momentum into weekend.</a:t>
            </a:r>
            <a:endParaRPr b="0" i="0" sz="900" u="none" cap="none" strike="noStrike">
              <a:solidFill>
                <a:schemeClr val="dk1"/>
              </a:solidFill>
              <a:latin typeface="Calibri"/>
              <a:ea typeface="Calibri"/>
              <a:cs typeface="Calibri"/>
              <a:sym typeface="Calibri"/>
            </a:endParaRPr>
          </a:p>
        </p:txBody>
      </p:sp>
      <p:sp>
        <p:nvSpPr>
          <p:cNvPr id="133" name="Google Shape;133;p6"/>
          <p:cNvSpPr/>
          <p:nvPr/>
        </p:nvSpPr>
        <p:spPr>
          <a:xfrm>
            <a:off x="365760" y="3822192"/>
            <a:ext cx="777240" cy="256032"/>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384048" y="3831336"/>
            <a:ext cx="740664"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750"/>
              <a:buFont typeface="Calibri"/>
              <a:buNone/>
            </a:pPr>
            <a:r>
              <a:rPr b="1" i="0" lang="en-US" sz="750" u="none" cap="none" strike="noStrike">
                <a:solidFill>
                  <a:srgbClr val="0D1B2A"/>
                </a:solidFill>
                <a:latin typeface="Calibri"/>
                <a:ea typeface="Calibri"/>
                <a:cs typeface="Calibri"/>
                <a:sym typeface="Calibri"/>
              </a:rPr>
              <a:t>Week total</a:t>
            </a:r>
            <a:endParaRPr b="0" i="0" sz="750" u="none" cap="none" strike="noStrike">
              <a:solidFill>
                <a:schemeClr val="dk1"/>
              </a:solidFill>
              <a:latin typeface="Calibri"/>
              <a:ea typeface="Calibri"/>
              <a:cs typeface="Calibri"/>
              <a:sym typeface="Calibri"/>
            </a:endParaRPr>
          </a:p>
        </p:txBody>
      </p:sp>
      <p:sp>
        <p:nvSpPr>
          <p:cNvPr id="135" name="Google Shape;135;p6"/>
          <p:cNvSpPr/>
          <p:nvPr/>
        </p:nvSpPr>
        <p:spPr>
          <a:xfrm>
            <a:off x="1234440" y="3831336"/>
            <a:ext cx="749808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-$1B net — largest weekly outflow in months. Snapped a 6-week inflow streak.</a:t>
            </a:r>
            <a:endParaRPr b="0" i="0" sz="900" u="none" cap="none" strike="noStrike">
              <a:solidFill>
                <a:schemeClr val="dk1"/>
              </a:solidFill>
              <a:latin typeface="Calibri"/>
              <a:ea typeface="Calibri"/>
              <a:cs typeface="Calibri"/>
              <a:sym typeface="Calibri"/>
            </a:endParaRPr>
          </a:p>
        </p:txBody>
      </p:sp>
      <p:sp>
        <p:nvSpPr>
          <p:cNvPr id="136" name="Google Shape;136;p6"/>
          <p:cNvSpPr/>
          <p:nvPr/>
        </p:nvSpPr>
        <p:spPr>
          <a:xfrm>
            <a:off x="365760" y="4251960"/>
            <a:ext cx="777240" cy="256032"/>
          </a:xfrm>
          <a:prstGeom prst="rect">
            <a:avLst/>
          </a:prstGeom>
          <a:solidFill>
            <a:srgbClr val="C8A96E"/>
          </a:solidFill>
          <a:ln cap="flat" cmpd="sng" w="12700">
            <a:solidFill>
              <a:srgbClr val="C8A9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384048" y="4261104"/>
            <a:ext cx="740664"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750"/>
              <a:buFont typeface="Calibri"/>
              <a:buNone/>
            </a:pPr>
            <a:r>
              <a:rPr b="1" i="0" lang="en-US" sz="750" u="none" cap="none" strike="noStrike">
                <a:solidFill>
                  <a:srgbClr val="0D1B2A"/>
                </a:solidFill>
                <a:latin typeface="Calibri"/>
                <a:ea typeface="Calibri"/>
                <a:cs typeface="Calibri"/>
                <a:sym typeface="Calibri"/>
              </a:rPr>
              <a:t>In context</a:t>
            </a:r>
            <a:endParaRPr b="0" i="0" sz="750" u="none" cap="none" strike="noStrike">
              <a:solidFill>
                <a:schemeClr val="dk1"/>
              </a:solidFill>
              <a:latin typeface="Calibri"/>
              <a:ea typeface="Calibri"/>
              <a:cs typeface="Calibri"/>
              <a:sym typeface="Calibri"/>
            </a:endParaRPr>
          </a:p>
        </p:txBody>
      </p:sp>
      <p:sp>
        <p:nvSpPr>
          <p:cNvPr id="138" name="Google Shape;138;p6"/>
          <p:cNvSpPr/>
          <p:nvPr/>
        </p:nvSpPr>
        <p:spPr>
          <a:xfrm>
            <a:off x="1234440" y="4261104"/>
            <a:ext cx="749808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Cumulative net inflows since Jan 2024: ~$58.3B. Total AUM: ~$104B. This is caution, not exit.</a:t>
            </a:r>
            <a:endParaRPr b="0" i="0" sz="900" u="none" cap="none" strike="noStrike">
              <a:solidFill>
                <a:schemeClr val="dk1"/>
              </a:solidFill>
              <a:latin typeface="Calibri"/>
              <a:ea typeface="Calibri"/>
              <a:cs typeface="Calibri"/>
              <a:sym typeface="Calibri"/>
            </a:endParaRPr>
          </a:p>
        </p:txBody>
      </p:sp>
      <p:sp>
        <p:nvSpPr>
          <p:cNvPr id="139" name="Google Shape;139;p6"/>
          <p:cNvSpPr/>
          <p:nvPr/>
        </p:nvSpPr>
        <p:spPr>
          <a:xfrm>
            <a:off x="365760" y="4846320"/>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C6E"/>
              </a:buClr>
              <a:buSzPts val="700"/>
              <a:buFont typeface="Calibri"/>
              <a:buNone/>
            </a:pPr>
            <a:r>
              <a:rPr b="0" i="0" lang="en-US" sz="700" u="none" cap="none" strike="noStrike">
                <a:solidFill>
                  <a:srgbClr val="4A5C6E"/>
                </a:solidFill>
                <a:latin typeface="Calibri"/>
                <a:ea typeface="Calibri"/>
                <a:cs typeface="Calibri"/>
                <a:sym typeface="Calibri"/>
              </a:rPr>
              <a:t>Decentralized Masters  |  Tyler  |  May 18, 2026  |  Educational only. Not financial advice.</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44" name="Shape 144"/>
        <p:cNvGrpSpPr/>
        <p:nvPr/>
      </p:nvGrpSpPr>
      <p:grpSpPr>
        <a:xfrm>
          <a:off x="0" y="0"/>
          <a:ext cx="0" cy="0"/>
          <a:chOff x="0" y="0"/>
          <a:chExt cx="0" cy="0"/>
        </a:xfrm>
      </p:grpSpPr>
      <p:sp>
        <p:nvSpPr>
          <p:cNvPr id="145" name="Google Shape;145;p7"/>
          <p:cNvSpPr/>
          <p:nvPr/>
        </p:nvSpPr>
        <p:spPr>
          <a:xfrm>
            <a:off x="365760" y="164592"/>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750"/>
              <a:buFont typeface="Calibri"/>
              <a:buNone/>
            </a:pPr>
            <a:r>
              <a:rPr b="1" i="0" lang="en-US" sz="750" u="none" cap="none" strike="noStrike">
                <a:solidFill>
                  <a:srgbClr val="C8A96E"/>
                </a:solidFill>
                <a:latin typeface="Calibri"/>
                <a:ea typeface="Calibri"/>
                <a:cs typeface="Calibri"/>
                <a:sym typeface="Calibri"/>
              </a:rPr>
              <a:t>CRYPTO — HYPERLIQUID</a:t>
            </a:r>
            <a:endParaRPr b="0" i="0" sz="750" u="none" cap="none" strike="noStrike">
              <a:solidFill>
                <a:schemeClr val="dk1"/>
              </a:solidFill>
              <a:latin typeface="Calibri"/>
              <a:ea typeface="Calibri"/>
              <a:cs typeface="Calibri"/>
              <a:sym typeface="Calibri"/>
            </a:endParaRPr>
          </a:p>
        </p:txBody>
      </p:sp>
      <p:sp>
        <p:nvSpPr>
          <p:cNvPr id="146" name="Google Shape;146;p7"/>
          <p:cNvSpPr/>
          <p:nvPr/>
        </p:nvSpPr>
        <p:spPr>
          <a:xfrm>
            <a:off x="365760" y="402336"/>
            <a:ext cx="7315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Green While Everything Else Bleeds</a:t>
            </a:r>
            <a:endParaRPr b="0" i="0" sz="2600" u="none" cap="none" strike="noStrike">
              <a:solidFill>
                <a:schemeClr val="dk1"/>
              </a:solidFill>
              <a:latin typeface="Calibri"/>
              <a:ea typeface="Calibri"/>
              <a:cs typeface="Calibri"/>
              <a:sym typeface="Calibri"/>
            </a:endParaRPr>
          </a:p>
        </p:txBody>
      </p:sp>
      <p:sp>
        <p:nvSpPr>
          <p:cNvPr id="147" name="Google Shape;147;p7"/>
          <p:cNvSpPr/>
          <p:nvPr/>
        </p:nvSpPr>
        <p:spPr>
          <a:xfrm>
            <a:off x="365760" y="1097280"/>
            <a:ext cx="2011680" cy="100584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45720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HYPE TODAY</a:t>
            </a:r>
            <a:endParaRPr b="0" i="0" sz="700" u="none" cap="none" strike="noStrike">
              <a:solidFill>
                <a:schemeClr val="dk1"/>
              </a:solidFill>
              <a:latin typeface="Calibri"/>
              <a:ea typeface="Calibri"/>
              <a:cs typeface="Calibri"/>
              <a:sym typeface="Calibri"/>
            </a:endParaRPr>
          </a:p>
        </p:txBody>
      </p:sp>
      <p:sp>
        <p:nvSpPr>
          <p:cNvPr id="149" name="Google Shape;149;p7"/>
          <p:cNvSpPr/>
          <p:nvPr/>
        </p:nvSpPr>
        <p:spPr>
          <a:xfrm>
            <a:off x="45720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FA5"/>
              </a:buClr>
              <a:buSzPts val="2200"/>
              <a:buFont typeface="Calibri"/>
              <a:buNone/>
            </a:pPr>
            <a:r>
              <a:rPr b="1" i="0" lang="en-US" sz="2200" u="none" cap="none" strike="noStrike">
                <a:solidFill>
                  <a:srgbClr val="00BFA5"/>
                </a:solidFill>
                <a:latin typeface="Calibri"/>
                <a:ea typeface="Calibri"/>
                <a:cs typeface="Calibri"/>
                <a:sym typeface="Calibri"/>
              </a:rPr>
              <a:t>+7%</a:t>
            </a:r>
            <a:endParaRPr b="0" i="0" sz="2200" u="none" cap="none" strike="noStrike">
              <a:solidFill>
                <a:schemeClr val="dk1"/>
              </a:solidFill>
              <a:latin typeface="Calibri"/>
              <a:ea typeface="Calibri"/>
              <a:cs typeface="Calibri"/>
              <a:sym typeface="Calibri"/>
            </a:endParaRPr>
          </a:p>
        </p:txBody>
      </p:sp>
      <p:sp>
        <p:nvSpPr>
          <p:cNvPr id="150" name="Google Shape;150;p7"/>
          <p:cNvSpPr/>
          <p:nvPr/>
        </p:nvSpPr>
        <p:spPr>
          <a:xfrm>
            <a:off x="45720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BTC -4% same session</a:t>
            </a:r>
            <a:endParaRPr b="0" i="0" sz="800" u="none" cap="none" strike="noStrike">
              <a:solidFill>
                <a:schemeClr val="dk1"/>
              </a:solidFill>
              <a:latin typeface="Calibri"/>
              <a:ea typeface="Calibri"/>
              <a:cs typeface="Calibri"/>
              <a:sym typeface="Calibri"/>
            </a:endParaRPr>
          </a:p>
        </p:txBody>
      </p:sp>
      <p:sp>
        <p:nvSpPr>
          <p:cNvPr id="151" name="Google Shape;151;p7"/>
          <p:cNvSpPr/>
          <p:nvPr/>
        </p:nvSpPr>
        <p:spPr>
          <a:xfrm>
            <a:off x="2487168" y="1097280"/>
            <a:ext cx="2011680" cy="100584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2578608"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PLATFORM VOL</a:t>
            </a:r>
            <a:endParaRPr b="0" i="0" sz="700" u="none" cap="none" strike="noStrike">
              <a:solidFill>
                <a:schemeClr val="dk1"/>
              </a:solidFill>
              <a:latin typeface="Calibri"/>
              <a:ea typeface="Calibri"/>
              <a:cs typeface="Calibri"/>
              <a:sym typeface="Calibri"/>
            </a:endParaRPr>
          </a:p>
        </p:txBody>
      </p:sp>
      <p:sp>
        <p:nvSpPr>
          <p:cNvPr id="153" name="Google Shape;153;p7"/>
          <p:cNvSpPr/>
          <p:nvPr/>
        </p:nvSpPr>
        <p:spPr>
          <a:xfrm>
            <a:off x="2578608"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FA5"/>
              </a:buClr>
              <a:buSzPts val="2200"/>
              <a:buFont typeface="Calibri"/>
              <a:buNone/>
            </a:pPr>
            <a:r>
              <a:rPr b="1" i="0" lang="en-US" sz="2200" u="none" cap="none" strike="noStrike">
                <a:solidFill>
                  <a:srgbClr val="00BFA5"/>
                </a:solidFill>
                <a:latin typeface="Calibri"/>
                <a:ea typeface="Calibri"/>
                <a:cs typeface="Calibri"/>
                <a:sym typeface="Calibri"/>
              </a:rPr>
              <a:t>$8.4T</a:t>
            </a:r>
            <a:endParaRPr b="0" i="0" sz="2200" u="none" cap="none" strike="noStrike">
              <a:solidFill>
                <a:schemeClr val="dk1"/>
              </a:solidFill>
              <a:latin typeface="Calibri"/>
              <a:ea typeface="Calibri"/>
              <a:cs typeface="Calibri"/>
              <a:sym typeface="Calibri"/>
            </a:endParaRPr>
          </a:p>
        </p:txBody>
      </p:sp>
      <p:sp>
        <p:nvSpPr>
          <p:cNvPr id="154" name="Google Shape;154;p7"/>
          <p:cNvSpPr/>
          <p:nvPr/>
        </p:nvSpPr>
        <p:spPr>
          <a:xfrm>
            <a:off x="2578608"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Cumulative since 2023</a:t>
            </a:r>
            <a:endParaRPr b="0" i="0" sz="800" u="none" cap="none" strike="noStrike">
              <a:solidFill>
                <a:schemeClr val="dk1"/>
              </a:solidFill>
              <a:latin typeface="Calibri"/>
              <a:ea typeface="Calibri"/>
              <a:cs typeface="Calibri"/>
              <a:sym typeface="Calibri"/>
            </a:endParaRPr>
          </a:p>
        </p:txBody>
      </p:sp>
      <p:sp>
        <p:nvSpPr>
          <p:cNvPr id="155" name="Google Shape;155;p7"/>
          <p:cNvSpPr/>
          <p:nvPr/>
        </p:nvSpPr>
        <p:spPr>
          <a:xfrm>
            <a:off x="4608576" y="1097280"/>
            <a:ext cx="2011680" cy="100584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4700016"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HYPE ETF (THYP)</a:t>
            </a:r>
            <a:endParaRPr b="0" i="0" sz="700" u="none" cap="none" strike="noStrike">
              <a:solidFill>
                <a:schemeClr val="dk1"/>
              </a:solidFill>
              <a:latin typeface="Calibri"/>
              <a:ea typeface="Calibri"/>
              <a:cs typeface="Calibri"/>
              <a:sym typeface="Calibri"/>
            </a:endParaRPr>
          </a:p>
        </p:txBody>
      </p:sp>
      <p:sp>
        <p:nvSpPr>
          <p:cNvPr id="157" name="Google Shape;157;p7"/>
          <p:cNvSpPr/>
          <p:nvPr/>
        </p:nvSpPr>
        <p:spPr>
          <a:xfrm>
            <a:off x="4700016"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LIVE</a:t>
            </a:r>
            <a:endParaRPr b="0" i="0" sz="2200" u="none" cap="none" strike="noStrike">
              <a:solidFill>
                <a:schemeClr val="dk1"/>
              </a:solidFill>
              <a:latin typeface="Calibri"/>
              <a:ea typeface="Calibri"/>
              <a:cs typeface="Calibri"/>
              <a:sym typeface="Calibri"/>
            </a:endParaRPr>
          </a:p>
        </p:txBody>
      </p:sp>
      <p:sp>
        <p:nvSpPr>
          <p:cNvPr id="158" name="Google Shape;158;p7"/>
          <p:cNvSpPr/>
          <p:nvPr/>
        </p:nvSpPr>
        <p:spPr>
          <a:xfrm>
            <a:off x="4700016"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21Shares, 0.3% mgmt fee</a:t>
            </a:r>
            <a:endParaRPr b="0" i="0" sz="800" u="none" cap="none" strike="noStrike">
              <a:solidFill>
                <a:schemeClr val="dk1"/>
              </a:solidFill>
              <a:latin typeface="Calibri"/>
              <a:ea typeface="Calibri"/>
              <a:cs typeface="Calibri"/>
              <a:sym typeface="Calibri"/>
            </a:endParaRPr>
          </a:p>
        </p:txBody>
      </p:sp>
      <p:sp>
        <p:nvSpPr>
          <p:cNvPr id="159" name="Google Shape;159;p7"/>
          <p:cNvSpPr/>
          <p:nvPr/>
        </p:nvSpPr>
        <p:spPr>
          <a:xfrm>
            <a:off x="6729984" y="1097280"/>
            <a:ext cx="2057400" cy="100584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6821424" y="1188720"/>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ETF PIPELINE</a:t>
            </a:r>
            <a:endParaRPr b="0" i="0" sz="700" u="none" cap="none" strike="noStrike">
              <a:solidFill>
                <a:schemeClr val="dk1"/>
              </a:solidFill>
              <a:latin typeface="Calibri"/>
              <a:ea typeface="Calibri"/>
              <a:cs typeface="Calibri"/>
              <a:sym typeface="Calibri"/>
            </a:endParaRPr>
          </a:p>
        </p:txBody>
      </p:sp>
      <p:sp>
        <p:nvSpPr>
          <p:cNvPr id="161" name="Google Shape;161;p7"/>
          <p:cNvSpPr/>
          <p:nvPr/>
        </p:nvSpPr>
        <p:spPr>
          <a:xfrm>
            <a:off x="6821424" y="1371600"/>
            <a:ext cx="1874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2 MORE</a:t>
            </a:r>
            <a:endParaRPr b="0" i="0" sz="2200" u="none" cap="none" strike="noStrike">
              <a:solidFill>
                <a:schemeClr val="dk1"/>
              </a:solidFill>
              <a:latin typeface="Calibri"/>
              <a:ea typeface="Calibri"/>
              <a:cs typeface="Calibri"/>
              <a:sym typeface="Calibri"/>
            </a:endParaRPr>
          </a:p>
        </p:txBody>
      </p:sp>
      <p:sp>
        <p:nvSpPr>
          <p:cNvPr id="162" name="Google Shape;162;p7"/>
          <p:cNvSpPr/>
          <p:nvPr/>
        </p:nvSpPr>
        <p:spPr>
          <a:xfrm>
            <a:off x="6821424" y="1810512"/>
            <a:ext cx="187452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Bitwise + Grayscale pending</a:t>
            </a:r>
            <a:endParaRPr b="0" i="0" sz="800" u="none" cap="none" strike="noStrike">
              <a:solidFill>
                <a:schemeClr val="dk1"/>
              </a:solidFill>
              <a:latin typeface="Calibri"/>
              <a:ea typeface="Calibri"/>
              <a:cs typeface="Calibri"/>
              <a:sym typeface="Calibri"/>
            </a:endParaRPr>
          </a:p>
        </p:txBody>
      </p:sp>
      <p:sp>
        <p:nvSpPr>
          <p:cNvPr id="163" name="Google Shape;163;p7"/>
          <p:cNvSpPr/>
          <p:nvPr/>
        </p:nvSpPr>
        <p:spPr>
          <a:xfrm>
            <a:off x="365760" y="2286000"/>
            <a:ext cx="8412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1000"/>
              <a:buFont typeface="Calibri"/>
              <a:buNone/>
            </a:pPr>
            <a:r>
              <a:rPr b="1" i="0" lang="en-US" sz="1000" u="none" cap="none" strike="noStrike">
                <a:solidFill>
                  <a:srgbClr val="C8A96E"/>
                </a:solidFill>
                <a:latin typeface="Calibri"/>
                <a:ea typeface="Calibri"/>
                <a:cs typeface="Calibri"/>
                <a:sym typeface="Calibri"/>
              </a:rPr>
              <a:t>TODAY'S CATALYST — SPACEX PRE-IPO PERP</a:t>
            </a:r>
            <a:endParaRPr b="0" i="0" sz="1000" u="none" cap="none" strike="noStrike">
              <a:solidFill>
                <a:schemeClr val="dk1"/>
              </a:solidFill>
              <a:latin typeface="Calibri"/>
              <a:ea typeface="Calibri"/>
              <a:cs typeface="Calibri"/>
              <a:sym typeface="Calibri"/>
            </a:endParaRPr>
          </a:p>
        </p:txBody>
      </p:sp>
      <p:sp>
        <p:nvSpPr>
          <p:cNvPr id="164" name="Google Shape;164;p7"/>
          <p:cNvSpPr/>
          <p:nvPr/>
        </p:nvSpPr>
        <p:spPr>
          <a:xfrm>
            <a:off x="365760" y="2633472"/>
            <a:ext cx="36576" cy="621792"/>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p:nvPr/>
        </p:nvSpPr>
        <p:spPr>
          <a:xfrm>
            <a:off x="502920" y="2633472"/>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Trade.xyz launched SPCX-USDC at ~5:16 AM UTC today</a:t>
            </a:r>
            <a:endParaRPr b="0" i="0" sz="1000" u="none" cap="none" strike="noStrike">
              <a:solidFill>
                <a:schemeClr val="dk1"/>
              </a:solidFill>
              <a:latin typeface="Calibri"/>
              <a:ea typeface="Calibri"/>
              <a:cs typeface="Calibri"/>
              <a:sym typeface="Calibri"/>
            </a:endParaRPr>
          </a:p>
        </p:txBody>
      </p:sp>
      <p:sp>
        <p:nvSpPr>
          <p:cNvPr id="166" name="Google Shape;166;p7"/>
          <p:cNvSpPr/>
          <p:nvPr/>
        </p:nvSpPr>
        <p:spPr>
          <a:xfrm>
            <a:off x="502920" y="2889504"/>
            <a:ext cx="822960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First synthetic pre-IPO perpetual futures contract on Hyperliquid. SpaceX isn't publicly traded — but you can now trade it as a perp, on-chain, at a reference valuation of $1.78 trillion.</a:t>
            </a:r>
            <a:endParaRPr b="0" i="0" sz="900" u="none" cap="none" strike="noStrike">
              <a:solidFill>
                <a:schemeClr val="dk1"/>
              </a:solidFill>
              <a:latin typeface="Calibri"/>
              <a:ea typeface="Calibri"/>
              <a:cs typeface="Calibri"/>
              <a:sym typeface="Calibri"/>
            </a:endParaRPr>
          </a:p>
        </p:txBody>
      </p:sp>
      <p:sp>
        <p:nvSpPr>
          <p:cNvPr id="167" name="Google Shape;167;p7"/>
          <p:cNvSpPr/>
          <p:nvPr/>
        </p:nvSpPr>
        <p:spPr>
          <a:xfrm>
            <a:off x="365760" y="3383280"/>
            <a:ext cx="36576" cy="621792"/>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502920" y="3383280"/>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Second-order: this drives platform activity</a:t>
            </a:r>
            <a:endParaRPr b="0" i="0" sz="1000" u="none" cap="none" strike="noStrike">
              <a:solidFill>
                <a:schemeClr val="dk1"/>
              </a:solidFill>
              <a:latin typeface="Calibri"/>
              <a:ea typeface="Calibri"/>
              <a:cs typeface="Calibri"/>
              <a:sym typeface="Calibri"/>
            </a:endParaRPr>
          </a:p>
        </p:txBody>
      </p:sp>
      <p:sp>
        <p:nvSpPr>
          <p:cNvPr id="169" name="Google Shape;169;p7"/>
          <p:cNvSpPr/>
          <p:nvPr/>
        </p:nvSpPr>
        <p:spPr>
          <a:xfrm>
            <a:off x="502920" y="3639312"/>
            <a:ext cx="822960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More novel instruments = more HFT, more directional flow, more funding rate dynamics. That's more fee revenue to the ecosystem and a stronger bid for HYPE as the native token capturing that activity.</a:t>
            </a:r>
            <a:endParaRPr b="0" i="0" sz="900" u="none" cap="none" strike="noStrike">
              <a:solidFill>
                <a:schemeClr val="dk1"/>
              </a:solidFill>
              <a:latin typeface="Calibri"/>
              <a:ea typeface="Calibri"/>
              <a:cs typeface="Calibri"/>
              <a:sym typeface="Calibri"/>
            </a:endParaRPr>
          </a:p>
        </p:txBody>
      </p:sp>
      <p:sp>
        <p:nvSpPr>
          <p:cNvPr id="170" name="Google Shape;170;p7"/>
          <p:cNvSpPr/>
          <p:nvPr/>
        </p:nvSpPr>
        <p:spPr>
          <a:xfrm>
            <a:off x="365760" y="4133088"/>
            <a:ext cx="36576" cy="621792"/>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502920" y="413308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Risk: CME and ICE are pushing regulatory concerns</a:t>
            </a:r>
            <a:endParaRPr b="0" i="0" sz="1000" u="none" cap="none" strike="noStrike">
              <a:solidFill>
                <a:schemeClr val="dk1"/>
              </a:solidFill>
              <a:latin typeface="Calibri"/>
              <a:ea typeface="Calibri"/>
              <a:cs typeface="Calibri"/>
              <a:sym typeface="Calibri"/>
            </a:endParaRPr>
          </a:p>
        </p:txBody>
      </p:sp>
      <p:sp>
        <p:nvSpPr>
          <p:cNvPr id="172" name="Google Shape;172;p7"/>
          <p:cNvSpPr/>
          <p:nvPr/>
        </p:nvSpPr>
        <p:spPr>
          <a:xfrm>
            <a:off x="502920" y="4389120"/>
            <a:ext cx="822960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Two of the biggest traditional derivatives venues have flagged concerns to regulators about synthetic pre-IPO instruments. Regulatory headline risk is live and could flip sentiment quickly.</a:t>
            </a:r>
            <a:endParaRPr b="0" i="0" sz="900" u="none" cap="none" strike="noStrike">
              <a:solidFill>
                <a:schemeClr val="dk1"/>
              </a:solidFill>
              <a:latin typeface="Calibri"/>
              <a:ea typeface="Calibri"/>
              <a:cs typeface="Calibri"/>
              <a:sym typeface="Calibri"/>
            </a:endParaRPr>
          </a:p>
        </p:txBody>
      </p:sp>
      <p:sp>
        <p:nvSpPr>
          <p:cNvPr id="173" name="Google Shape;173;p7"/>
          <p:cNvSpPr/>
          <p:nvPr/>
        </p:nvSpPr>
        <p:spPr>
          <a:xfrm>
            <a:off x="365760" y="4846320"/>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C6E"/>
              </a:buClr>
              <a:buSzPts val="700"/>
              <a:buFont typeface="Calibri"/>
              <a:buNone/>
            </a:pPr>
            <a:r>
              <a:rPr b="0" i="0" lang="en-US" sz="700" u="none" cap="none" strike="noStrike">
                <a:solidFill>
                  <a:srgbClr val="4A5C6E"/>
                </a:solidFill>
                <a:latin typeface="Calibri"/>
                <a:ea typeface="Calibri"/>
                <a:cs typeface="Calibri"/>
                <a:sym typeface="Calibri"/>
              </a:rPr>
              <a:t>Decentralized Masters  |  Tyler  |  May 18, 2026  |  Educational only. Not financial advice.</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78" name="Shape 178"/>
        <p:cNvGrpSpPr/>
        <p:nvPr/>
      </p:nvGrpSpPr>
      <p:grpSpPr>
        <a:xfrm>
          <a:off x="0" y="0"/>
          <a:ext cx="0" cy="0"/>
          <a:chOff x="0" y="0"/>
          <a:chExt cx="0" cy="0"/>
        </a:xfrm>
      </p:grpSpPr>
      <p:sp>
        <p:nvSpPr>
          <p:cNvPr id="179" name="Google Shape;179;p8"/>
          <p:cNvSpPr/>
          <p:nvPr/>
        </p:nvSpPr>
        <p:spPr>
          <a:xfrm>
            <a:off x="365760" y="164592"/>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750"/>
              <a:buFont typeface="Calibri"/>
              <a:buNone/>
            </a:pPr>
            <a:r>
              <a:rPr b="1" i="0" lang="en-US" sz="750" u="none" cap="none" strike="noStrike">
                <a:solidFill>
                  <a:srgbClr val="C8A96E"/>
                </a:solidFill>
                <a:latin typeface="Calibri"/>
                <a:ea typeface="Calibri"/>
                <a:cs typeface="Calibri"/>
                <a:sym typeface="Calibri"/>
              </a:rPr>
              <a:t>MACRO — GEOPOLITICS &amp; ENERGY</a:t>
            </a:r>
            <a:endParaRPr b="0" i="0" sz="750" u="none" cap="none" strike="noStrike">
              <a:solidFill>
                <a:schemeClr val="dk1"/>
              </a:solidFill>
              <a:latin typeface="Calibri"/>
              <a:ea typeface="Calibri"/>
              <a:cs typeface="Calibri"/>
              <a:sym typeface="Calibri"/>
            </a:endParaRPr>
          </a:p>
        </p:txBody>
      </p:sp>
      <p:sp>
        <p:nvSpPr>
          <p:cNvPr id="180" name="Google Shape;180;p8"/>
          <p:cNvSpPr/>
          <p:nvPr/>
        </p:nvSpPr>
        <p:spPr>
          <a:xfrm>
            <a:off x="365760" y="402336"/>
            <a:ext cx="7315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Iran Is the Variable That Drives Everything</a:t>
            </a:r>
            <a:endParaRPr b="0" i="0" sz="2600" u="none" cap="none" strike="noStrike">
              <a:solidFill>
                <a:schemeClr val="dk1"/>
              </a:solidFill>
              <a:latin typeface="Calibri"/>
              <a:ea typeface="Calibri"/>
              <a:cs typeface="Calibri"/>
              <a:sym typeface="Calibri"/>
            </a:endParaRPr>
          </a:p>
        </p:txBody>
      </p:sp>
      <p:sp>
        <p:nvSpPr>
          <p:cNvPr id="181" name="Google Shape;181;p8"/>
          <p:cNvSpPr/>
          <p:nvPr/>
        </p:nvSpPr>
        <p:spPr>
          <a:xfrm>
            <a:off x="8138160" y="73152"/>
            <a:ext cx="475488" cy="475488"/>
          </a:xfrm>
          <a:prstGeom prst="ellipse">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2" name="Google Shape;182;p8"/>
          <p:cNvPicPr preferRelativeResize="0"/>
          <p:nvPr/>
        </p:nvPicPr>
        <p:blipFill rotWithShape="1">
          <a:blip r:embed="rId3">
            <a:alphaModFix/>
          </a:blip>
          <a:srcRect b="0" l="0" r="0" t="0"/>
          <a:stretch/>
        </p:blipFill>
        <p:spPr>
          <a:xfrm>
            <a:off x="8193024" y="128016"/>
            <a:ext cx="365760" cy="365760"/>
          </a:xfrm>
          <a:prstGeom prst="rect">
            <a:avLst/>
          </a:prstGeom>
          <a:noFill/>
          <a:ln>
            <a:noFill/>
          </a:ln>
        </p:spPr>
      </p:pic>
      <p:sp>
        <p:nvSpPr>
          <p:cNvPr id="183" name="Google Shape;183;p8"/>
          <p:cNvSpPr/>
          <p:nvPr/>
        </p:nvSpPr>
        <p:spPr>
          <a:xfrm>
            <a:off x="36576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45720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WTI CRUDE</a:t>
            </a:r>
            <a:endParaRPr b="0" i="0" sz="700" u="none" cap="none" strike="noStrike">
              <a:solidFill>
                <a:schemeClr val="dk1"/>
              </a:solidFill>
              <a:latin typeface="Calibri"/>
              <a:ea typeface="Calibri"/>
              <a:cs typeface="Calibri"/>
              <a:sym typeface="Calibri"/>
            </a:endParaRPr>
          </a:p>
        </p:txBody>
      </p:sp>
      <p:sp>
        <p:nvSpPr>
          <p:cNvPr id="185" name="Google Shape;185;p8"/>
          <p:cNvSpPr/>
          <p:nvPr/>
        </p:nvSpPr>
        <p:spPr>
          <a:xfrm>
            <a:off x="45720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&gt;$107</a:t>
            </a:r>
            <a:endParaRPr b="0" i="0" sz="2200" u="none" cap="none" strike="noStrike">
              <a:solidFill>
                <a:schemeClr val="dk1"/>
              </a:solidFill>
              <a:latin typeface="Calibri"/>
              <a:ea typeface="Calibri"/>
              <a:cs typeface="Calibri"/>
              <a:sym typeface="Calibri"/>
            </a:endParaRPr>
          </a:p>
        </p:txBody>
      </p:sp>
      <p:sp>
        <p:nvSpPr>
          <p:cNvPr id="186" name="Google Shape;186;p8"/>
          <p:cNvSpPr/>
          <p:nvPr/>
        </p:nvSpPr>
        <p:spPr>
          <a:xfrm>
            <a:off x="45720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+9%+ week-over-week</a:t>
            </a:r>
            <a:endParaRPr b="0" i="0" sz="800" u="none" cap="none" strike="noStrike">
              <a:solidFill>
                <a:schemeClr val="dk1"/>
              </a:solidFill>
              <a:latin typeface="Calibri"/>
              <a:ea typeface="Calibri"/>
              <a:cs typeface="Calibri"/>
              <a:sym typeface="Calibri"/>
            </a:endParaRPr>
          </a:p>
        </p:txBody>
      </p:sp>
      <p:sp>
        <p:nvSpPr>
          <p:cNvPr id="187" name="Google Shape;187;p8"/>
          <p:cNvSpPr/>
          <p:nvPr/>
        </p:nvSpPr>
        <p:spPr>
          <a:xfrm>
            <a:off x="251460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260604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BRENT RANGE</a:t>
            </a:r>
            <a:endParaRPr b="0" i="0" sz="700" u="none" cap="none" strike="noStrike">
              <a:solidFill>
                <a:schemeClr val="dk1"/>
              </a:solidFill>
              <a:latin typeface="Calibri"/>
              <a:ea typeface="Calibri"/>
              <a:cs typeface="Calibri"/>
              <a:sym typeface="Calibri"/>
            </a:endParaRPr>
          </a:p>
        </p:txBody>
      </p:sp>
      <p:sp>
        <p:nvSpPr>
          <p:cNvPr id="189" name="Google Shape;189;p8"/>
          <p:cNvSpPr/>
          <p:nvPr/>
        </p:nvSpPr>
        <p:spPr>
          <a:xfrm>
            <a:off x="260604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$105-113</a:t>
            </a:r>
            <a:endParaRPr b="0" i="0" sz="2200" u="none" cap="none" strike="noStrike">
              <a:solidFill>
                <a:schemeClr val="dk1"/>
              </a:solidFill>
              <a:latin typeface="Calibri"/>
              <a:ea typeface="Calibri"/>
              <a:cs typeface="Calibri"/>
              <a:sym typeface="Calibri"/>
            </a:endParaRPr>
          </a:p>
        </p:txBody>
      </p:sp>
      <p:sp>
        <p:nvSpPr>
          <p:cNvPr id="190" name="Google Shape;190;p8"/>
          <p:cNvSpPr/>
          <p:nvPr/>
        </p:nvSpPr>
        <p:spPr>
          <a:xfrm>
            <a:off x="260604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vs ~$70 pre-conflict</a:t>
            </a:r>
            <a:endParaRPr b="0" i="0" sz="800" u="none" cap="none" strike="noStrike">
              <a:solidFill>
                <a:schemeClr val="dk1"/>
              </a:solidFill>
              <a:latin typeface="Calibri"/>
              <a:ea typeface="Calibri"/>
              <a:cs typeface="Calibri"/>
              <a:sym typeface="Calibri"/>
            </a:endParaRPr>
          </a:p>
        </p:txBody>
      </p:sp>
      <p:sp>
        <p:nvSpPr>
          <p:cNvPr id="191" name="Google Shape;191;p8"/>
          <p:cNvSpPr/>
          <p:nvPr/>
        </p:nvSpPr>
        <p:spPr>
          <a:xfrm>
            <a:off x="466344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475488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HORMUZ STATUS</a:t>
            </a:r>
            <a:endParaRPr b="0" i="0" sz="700" u="none" cap="none" strike="noStrike">
              <a:solidFill>
                <a:schemeClr val="dk1"/>
              </a:solidFill>
              <a:latin typeface="Calibri"/>
              <a:ea typeface="Calibri"/>
              <a:cs typeface="Calibri"/>
              <a:sym typeface="Calibri"/>
            </a:endParaRPr>
          </a:p>
        </p:txBody>
      </p:sp>
      <p:sp>
        <p:nvSpPr>
          <p:cNvPr id="193" name="Google Shape;193;p8"/>
          <p:cNvSpPr/>
          <p:nvPr/>
        </p:nvSpPr>
        <p:spPr>
          <a:xfrm>
            <a:off x="475488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Near-closed</a:t>
            </a:r>
            <a:endParaRPr b="0" i="0" sz="2200" u="none" cap="none" strike="noStrike">
              <a:solidFill>
                <a:schemeClr val="dk1"/>
              </a:solidFill>
              <a:latin typeface="Calibri"/>
              <a:ea typeface="Calibri"/>
              <a:cs typeface="Calibri"/>
              <a:sym typeface="Calibri"/>
            </a:endParaRPr>
          </a:p>
        </p:txBody>
      </p:sp>
      <p:sp>
        <p:nvSpPr>
          <p:cNvPr id="194" name="Google Shape;194;p8"/>
          <p:cNvSpPr/>
          <p:nvPr/>
        </p:nvSpPr>
        <p:spPr>
          <a:xfrm>
            <a:off x="475488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~20% global oil disrupted</a:t>
            </a:r>
            <a:endParaRPr b="0" i="0" sz="800" u="none" cap="none" strike="noStrike">
              <a:solidFill>
                <a:schemeClr val="dk1"/>
              </a:solidFill>
              <a:latin typeface="Calibri"/>
              <a:ea typeface="Calibri"/>
              <a:cs typeface="Calibri"/>
              <a:sym typeface="Calibri"/>
            </a:endParaRPr>
          </a:p>
        </p:txBody>
      </p:sp>
      <p:sp>
        <p:nvSpPr>
          <p:cNvPr id="195" name="Google Shape;195;p8"/>
          <p:cNvSpPr/>
          <p:nvPr/>
        </p:nvSpPr>
        <p:spPr>
          <a:xfrm>
            <a:off x="681228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690372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TRUMP SIGNAL</a:t>
            </a:r>
            <a:endParaRPr b="0" i="0" sz="700" u="none" cap="none" strike="noStrike">
              <a:solidFill>
                <a:schemeClr val="dk1"/>
              </a:solidFill>
              <a:latin typeface="Calibri"/>
              <a:ea typeface="Calibri"/>
              <a:cs typeface="Calibri"/>
              <a:sym typeface="Calibri"/>
            </a:endParaRPr>
          </a:p>
        </p:txBody>
      </p:sp>
      <p:sp>
        <p:nvSpPr>
          <p:cNvPr id="197" name="Google Shape;197;p8"/>
          <p:cNvSpPr/>
          <p:nvPr/>
        </p:nvSpPr>
        <p:spPr>
          <a:xfrm>
            <a:off x="690372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ESCALATE</a:t>
            </a:r>
            <a:endParaRPr b="0" i="0" sz="2200" u="none" cap="none" strike="noStrike">
              <a:solidFill>
                <a:schemeClr val="dk1"/>
              </a:solidFill>
              <a:latin typeface="Calibri"/>
              <a:ea typeface="Calibri"/>
              <a:cs typeface="Calibri"/>
              <a:sym typeface="Calibri"/>
            </a:endParaRPr>
          </a:p>
        </p:txBody>
      </p:sp>
      <p:sp>
        <p:nvSpPr>
          <p:cNvPr id="198" name="Google Shape;198;p8"/>
          <p:cNvSpPr/>
          <p:nvPr/>
        </p:nvSpPr>
        <p:spPr>
          <a:xfrm>
            <a:off x="690372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'Clock is ticking' — Truth Social Sun</a:t>
            </a:r>
            <a:endParaRPr b="0" i="0" sz="800" u="none" cap="none" strike="noStrike">
              <a:solidFill>
                <a:schemeClr val="dk1"/>
              </a:solidFill>
              <a:latin typeface="Calibri"/>
              <a:ea typeface="Calibri"/>
              <a:cs typeface="Calibri"/>
              <a:sym typeface="Calibri"/>
            </a:endParaRPr>
          </a:p>
        </p:txBody>
      </p:sp>
      <p:sp>
        <p:nvSpPr>
          <p:cNvPr id="199" name="Google Shape;199;p8"/>
          <p:cNvSpPr/>
          <p:nvPr/>
        </p:nvSpPr>
        <p:spPr>
          <a:xfrm>
            <a:off x="365760" y="2176272"/>
            <a:ext cx="8412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1000"/>
              <a:buFont typeface="Calibri"/>
              <a:buNone/>
            </a:pPr>
            <a:r>
              <a:rPr b="1" i="0" lang="en-US" sz="1000" u="none" cap="none" strike="noStrike">
                <a:solidFill>
                  <a:srgbClr val="C8A96E"/>
                </a:solidFill>
                <a:latin typeface="Calibri"/>
                <a:ea typeface="Calibri"/>
                <a:cs typeface="Calibri"/>
                <a:sym typeface="Calibri"/>
              </a:rPr>
              <a:t>LAST 7 DAYS — KEY EVENTS</a:t>
            </a:r>
            <a:endParaRPr b="0" i="0" sz="1000" u="none" cap="none" strike="noStrike">
              <a:solidFill>
                <a:schemeClr val="dk1"/>
              </a:solidFill>
              <a:latin typeface="Calibri"/>
              <a:ea typeface="Calibri"/>
              <a:cs typeface="Calibri"/>
              <a:sym typeface="Calibri"/>
            </a:endParaRPr>
          </a:p>
        </p:txBody>
      </p:sp>
      <p:sp>
        <p:nvSpPr>
          <p:cNvPr id="200" name="Google Shape;200;p8"/>
          <p:cNvSpPr/>
          <p:nvPr/>
        </p:nvSpPr>
        <p:spPr>
          <a:xfrm>
            <a:off x="365760" y="2514600"/>
            <a:ext cx="749808" cy="256032"/>
          </a:xfrm>
          <a:prstGeom prst="rect">
            <a:avLst/>
          </a:prstGeom>
          <a:solidFill>
            <a:srgbClr val="4A5C6E"/>
          </a:solidFill>
          <a:ln cap="flat" cmpd="sng" w="12700">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p:nvPr/>
        </p:nvSpPr>
        <p:spPr>
          <a:xfrm>
            <a:off x="384048" y="2523744"/>
            <a:ext cx="713232"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May 12</a:t>
            </a:r>
            <a:endParaRPr b="0" i="0" sz="750" u="none" cap="none" strike="noStrike">
              <a:solidFill>
                <a:schemeClr val="dk1"/>
              </a:solidFill>
              <a:latin typeface="Calibri"/>
              <a:ea typeface="Calibri"/>
              <a:cs typeface="Calibri"/>
              <a:sym typeface="Calibri"/>
            </a:endParaRPr>
          </a:p>
        </p:txBody>
      </p:sp>
      <p:sp>
        <p:nvSpPr>
          <p:cNvPr id="202" name="Google Shape;202;p8"/>
          <p:cNvSpPr/>
          <p:nvPr/>
        </p:nvSpPr>
        <p:spPr>
          <a:xfrm>
            <a:off x="1207008" y="2523744"/>
            <a:ext cx="749808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CPI comes in at 3.8% YoY — highest since Sept 2023. Oil-driven energy costs are feeding directly into the print.</a:t>
            </a:r>
            <a:endParaRPr b="0" i="0" sz="900" u="none" cap="none" strike="noStrike">
              <a:solidFill>
                <a:schemeClr val="dk1"/>
              </a:solidFill>
              <a:latin typeface="Calibri"/>
              <a:ea typeface="Calibri"/>
              <a:cs typeface="Calibri"/>
              <a:sym typeface="Calibri"/>
            </a:endParaRPr>
          </a:p>
        </p:txBody>
      </p:sp>
      <p:sp>
        <p:nvSpPr>
          <p:cNvPr id="203" name="Google Shape;203;p8"/>
          <p:cNvSpPr/>
          <p:nvPr/>
        </p:nvSpPr>
        <p:spPr>
          <a:xfrm>
            <a:off x="365760" y="2944368"/>
            <a:ext cx="749808" cy="256032"/>
          </a:xfrm>
          <a:prstGeom prst="rect">
            <a:avLst/>
          </a:prstGeom>
          <a:solidFill>
            <a:srgbClr val="4A5C6E"/>
          </a:solidFill>
          <a:ln cap="flat" cmpd="sng" w="12700">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a:off x="384048" y="2953512"/>
            <a:ext cx="713232"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May 13</a:t>
            </a:r>
            <a:endParaRPr b="0" i="0" sz="750" u="none" cap="none" strike="noStrike">
              <a:solidFill>
                <a:schemeClr val="dk1"/>
              </a:solidFill>
              <a:latin typeface="Calibri"/>
              <a:ea typeface="Calibri"/>
              <a:cs typeface="Calibri"/>
              <a:sym typeface="Calibri"/>
            </a:endParaRPr>
          </a:p>
        </p:txBody>
      </p:sp>
      <p:sp>
        <p:nvSpPr>
          <p:cNvPr id="205" name="Google Shape;205;p8"/>
          <p:cNvSpPr/>
          <p:nvPr/>
        </p:nvSpPr>
        <p:spPr>
          <a:xfrm>
            <a:off x="1207008" y="2953512"/>
            <a:ext cx="749808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PPI surges to 6% YoY. Rate hike probability jumps from 1% to 30%+. ETF outflows spike to $635M on the day.</a:t>
            </a:r>
            <a:endParaRPr b="0" i="0" sz="900" u="none" cap="none" strike="noStrike">
              <a:solidFill>
                <a:schemeClr val="dk1"/>
              </a:solidFill>
              <a:latin typeface="Calibri"/>
              <a:ea typeface="Calibri"/>
              <a:cs typeface="Calibri"/>
              <a:sym typeface="Calibri"/>
            </a:endParaRPr>
          </a:p>
        </p:txBody>
      </p:sp>
      <p:sp>
        <p:nvSpPr>
          <p:cNvPr id="206" name="Google Shape;206;p8"/>
          <p:cNvSpPr/>
          <p:nvPr/>
        </p:nvSpPr>
        <p:spPr>
          <a:xfrm>
            <a:off x="365760" y="3374136"/>
            <a:ext cx="749808" cy="256032"/>
          </a:xfrm>
          <a:prstGeom prst="rect">
            <a:avLst/>
          </a:prstGeom>
          <a:solidFill>
            <a:srgbClr val="4A5C6E"/>
          </a:solidFill>
          <a:ln cap="flat" cmpd="sng" w="12700">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384048" y="3383280"/>
            <a:ext cx="713232"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May 15</a:t>
            </a:r>
            <a:endParaRPr b="0" i="0" sz="750" u="none" cap="none" strike="noStrike">
              <a:solidFill>
                <a:schemeClr val="dk1"/>
              </a:solidFill>
              <a:latin typeface="Calibri"/>
              <a:ea typeface="Calibri"/>
              <a:cs typeface="Calibri"/>
              <a:sym typeface="Calibri"/>
            </a:endParaRPr>
          </a:p>
        </p:txBody>
      </p:sp>
      <p:sp>
        <p:nvSpPr>
          <p:cNvPr id="208" name="Google Shape;208;p8"/>
          <p:cNvSpPr/>
          <p:nvPr/>
        </p:nvSpPr>
        <p:spPr>
          <a:xfrm>
            <a:off x="1207008" y="3383280"/>
            <a:ext cx="749808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Kevin Warsh officially becomes Fed Chair. Powell stays on as governor. 10Y yield hits 4.55%, near 1-year high.</a:t>
            </a:r>
            <a:endParaRPr b="0" i="0" sz="900" u="none" cap="none" strike="noStrike">
              <a:solidFill>
                <a:schemeClr val="dk1"/>
              </a:solidFill>
              <a:latin typeface="Calibri"/>
              <a:ea typeface="Calibri"/>
              <a:cs typeface="Calibri"/>
              <a:sym typeface="Calibri"/>
            </a:endParaRPr>
          </a:p>
        </p:txBody>
      </p:sp>
      <p:sp>
        <p:nvSpPr>
          <p:cNvPr id="209" name="Google Shape;209;p8"/>
          <p:cNvSpPr/>
          <p:nvPr/>
        </p:nvSpPr>
        <p:spPr>
          <a:xfrm>
            <a:off x="365760" y="3803904"/>
            <a:ext cx="749808" cy="256032"/>
          </a:xfrm>
          <a:prstGeom prst="rect">
            <a:avLst/>
          </a:prstGeom>
          <a:solidFill>
            <a:srgbClr val="4A5C6E"/>
          </a:solidFill>
          <a:ln cap="flat" cmpd="sng" w="12700">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p:nvPr/>
        </p:nvSpPr>
        <p:spPr>
          <a:xfrm>
            <a:off x="384048" y="3813048"/>
            <a:ext cx="713232"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Weekend</a:t>
            </a:r>
            <a:endParaRPr b="0" i="0" sz="750" u="none" cap="none" strike="noStrike">
              <a:solidFill>
                <a:schemeClr val="dk1"/>
              </a:solidFill>
              <a:latin typeface="Calibri"/>
              <a:ea typeface="Calibri"/>
              <a:cs typeface="Calibri"/>
              <a:sym typeface="Calibri"/>
            </a:endParaRPr>
          </a:p>
        </p:txBody>
      </p:sp>
      <p:sp>
        <p:nvSpPr>
          <p:cNvPr id="211" name="Google Shape;211;p8"/>
          <p:cNvSpPr/>
          <p:nvPr/>
        </p:nvSpPr>
        <p:spPr>
          <a:xfrm>
            <a:off x="1207008" y="3813048"/>
            <a:ext cx="749808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Drone strikes target UAE Barakah Nuclear Plant perimeter. No radiation reported. Iran rejects 'no tangible concessions' from US.</a:t>
            </a:r>
            <a:endParaRPr b="0" i="0" sz="900" u="none" cap="none" strike="noStrike">
              <a:solidFill>
                <a:schemeClr val="dk1"/>
              </a:solidFill>
              <a:latin typeface="Calibri"/>
              <a:ea typeface="Calibri"/>
              <a:cs typeface="Calibri"/>
              <a:sym typeface="Calibri"/>
            </a:endParaRPr>
          </a:p>
        </p:txBody>
      </p:sp>
      <p:sp>
        <p:nvSpPr>
          <p:cNvPr id="212" name="Google Shape;212;p8"/>
          <p:cNvSpPr/>
          <p:nvPr/>
        </p:nvSpPr>
        <p:spPr>
          <a:xfrm>
            <a:off x="365760" y="4233672"/>
            <a:ext cx="749808" cy="256032"/>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384048" y="4242816"/>
            <a:ext cx="713232"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Today</a:t>
            </a:r>
            <a:endParaRPr b="0" i="0" sz="750" u="none" cap="none" strike="noStrike">
              <a:solidFill>
                <a:schemeClr val="dk1"/>
              </a:solidFill>
              <a:latin typeface="Calibri"/>
              <a:ea typeface="Calibri"/>
              <a:cs typeface="Calibri"/>
              <a:sym typeface="Calibri"/>
            </a:endParaRPr>
          </a:p>
        </p:txBody>
      </p:sp>
      <p:sp>
        <p:nvSpPr>
          <p:cNvPr id="214" name="Google Shape;214;p8"/>
          <p:cNvSpPr/>
          <p:nvPr/>
        </p:nvSpPr>
        <p:spPr>
          <a:xfrm>
            <a:off x="1207008" y="4242816"/>
            <a:ext cx="749808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Trump Truth Social: 'Clock is ticking — get moving, FAST.' Oil spikes. BTC breaks $77K. $661M crypto liq'd.</a:t>
            </a:r>
            <a:endParaRPr b="0" i="0" sz="900" u="none" cap="none" strike="noStrike">
              <a:solidFill>
                <a:schemeClr val="dk1"/>
              </a:solidFill>
              <a:latin typeface="Calibri"/>
              <a:ea typeface="Calibri"/>
              <a:cs typeface="Calibri"/>
              <a:sym typeface="Calibri"/>
            </a:endParaRPr>
          </a:p>
        </p:txBody>
      </p:sp>
      <p:sp>
        <p:nvSpPr>
          <p:cNvPr id="215" name="Google Shape;215;p8"/>
          <p:cNvSpPr/>
          <p:nvPr/>
        </p:nvSpPr>
        <p:spPr>
          <a:xfrm>
            <a:off x="365760" y="4846320"/>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C6E"/>
              </a:buClr>
              <a:buSzPts val="700"/>
              <a:buFont typeface="Calibri"/>
              <a:buNone/>
            </a:pPr>
            <a:r>
              <a:rPr b="0" i="0" lang="en-US" sz="700" u="none" cap="none" strike="noStrike">
                <a:solidFill>
                  <a:srgbClr val="4A5C6E"/>
                </a:solidFill>
                <a:latin typeface="Calibri"/>
                <a:ea typeface="Calibri"/>
                <a:cs typeface="Calibri"/>
                <a:sym typeface="Calibri"/>
              </a:rPr>
              <a:t>Decentralized Masters  |  Tyler  |  May 18, 2026  |  Educational only. Not financial advice.</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20" name="Shape 220"/>
        <p:cNvGrpSpPr/>
        <p:nvPr/>
      </p:nvGrpSpPr>
      <p:grpSpPr>
        <a:xfrm>
          <a:off x="0" y="0"/>
          <a:ext cx="0" cy="0"/>
          <a:chOff x="0" y="0"/>
          <a:chExt cx="0" cy="0"/>
        </a:xfrm>
      </p:grpSpPr>
      <p:sp>
        <p:nvSpPr>
          <p:cNvPr id="221" name="Google Shape;221;p9"/>
          <p:cNvSpPr/>
          <p:nvPr/>
        </p:nvSpPr>
        <p:spPr>
          <a:xfrm>
            <a:off x="365760" y="164592"/>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750"/>
              <a:buFont typeface="Calibri"/>
              <a:buNone/>
            </a:pPr>
            <a:r>
              <a:rPr b="1" i="0" lang="en-US" sz="750" u="none" cap="none" strike="noStrike">
                <a:solidFill>
                  <a:srgbClr val="C8A96E"/>
                </a:solidFill>
                <a:latin typeface="Calibri"/>
                <a:ea typeface="Calibri"/>
                <a:cs typeface="Calibri"/>
                <a:sym typeface="Calibri"/>
              </a:rPr>
              <a:t>MACRO — FEDERAL RESERVE</a:t>
            </a:r>
            <a:endParaRPr b="0" i="0" sz="750" u="none" cap="none" strike="noStrike">
              <a:solidFill>
                <a:schemeClr val="dk1"/>
              </a:solidFill>
              <a:latin typeface="Calibri"/>
              <a:ea typeface="Calibri"/>
              <a:cs typeface="Calibri"/>
              <a:sym typeface="Calibri"/>
            </a:endParaRPr>
          </a:p>
        </p:txBody>
      </p:sp>
      <p:sp>
        <p:nvSpPr>
          <p:cNvPr id="222" name="Google Shape;222;p9"/>
          <p:cNvSpPr/>
          <p:nvPr/>
        </p:nvSpPr>
        <p:spPr>
          <a:xfrm>
            <a:off x="365760" y="402336"/>
            <a:ext cx="7315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Warsh Inherits a Mess</a:t>
            </a:r>
            <a:endParaRPr b="0" i="0" sz="2600" u="none" cap="none" strike="noStrike">
              <a:solidFill>
                <a:schemeClr val="dk1"/>
              </a:solidFill>
              <a:latin typeface="Calibri"/>
              <a:ea typeface="Calibri"/>
              <a:cs typeface="Calibri"/>
              <a:sym typeface="Calibri"/>
            </a:endParaRPr>
          </a:p>
        </p:txBody>
      </p:sp>
      <p:sp>
        <p:nvSpPr>
          <p:cNvPr id="223" name="Google Shape;223;p9"/>
          <p:cNvSpPr/>
          <p:nvPr/>
        </p:nvSpPr>
        <p:spPr>
          <a:xfrm>
            <a:off x="8138160" y="73152"/>
            <a:ext cx="475488" cy="475488"/>
          </a:xfrm>
          <a:prstGeom prst="ellipse">
            <a:avLst/>
          </a:prstGeom>
          <a:solidFill>
            <a:srgbClr val="C8A96E"/>
          </a:solidFill>
          <a:ln cap="flat" cmpd="sng" w="12700">
            <a:solidFill>
              <a:srgbClr val="C8A9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4" name="Google Shape;224;p9"/>
          <p:cNvPicPr preferRelativeResize="0"/>
          <p:nvPr/>
        </p:nvPicPr>
        <p:blipFill rotWithShape="1">
          <a:blip r:embed="rId3">
            <a:alphaModFix/>
          </a:blip>
          <a:srcRect b="0" l="0" r="0" t="0"/>
          <a:stretch/>
        </p:blipFill>
        <p:spPr>
          <a:xfrm>
            <a:off x="8193024" y="128016"/>
            <a:ext cx="365760" cy="365760"/>
          </a:xfrm>
          <a:prstGeom prst="rect">
            <a:avLst/>
          </a:prstGeom>
          <a:noFill/>
          <a:ln>
            <a:noFill/>
          </a:ln>
        </p:spPr>
      </p:pic>
      <p:sp>
        <p:nvSpPr>
          <p:cNvPr id="225" name="Google Shape;225;p9"/>
          <p:cNvSpPr/>
          <p:nvPr/>
        </p:nvSpPr>
        <p:spPr>
          <a:xfrm>
            <a:off x="36576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p:nvPr/>
        </p:nvSpPr>
        <p:spPr>
          <a:xfrm>
            <a:off x="45720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CPI (APRIL)</a:t>
            </a:r>
            <a:endParaRPr b="0" i="0" sz="700" u="none" cap="none" strike="noStrike">
              <a:solidFill>
                <a:schemeClr val="dk1"/>
              </a:solidFill>
              <a:latin typeface="Calibri"/>
              <a:ea typeface="Calibri"/>
              <a:cs typeface="Calibri"/>
              <a:sym typeface="Calibri"/>
            </a:endParaRPr>
          </a:p>
        </p:txBody>
      </p:sp>
      <p:sp>
        <p:nvSpPr>
          <p:cNvPr id="227" name="Google Shape;227;p9"/>
          <p:cNvSpPr/>
          <p:nvPr/>
        </p:nvSpPr>
        <p:spPr>
          <a:xfrm>
            <a:off x="45720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3.8%</a:t>
            </a:r>
            <a:endParaRPr b="0" i="0" sz="2200" u="none" cap="none" strike="noStrike">
              <a:solidFill>
                <a:schemeClr val="dk1"/>
              </a:solidFill>
              <a:latin typeface="Calibri"/>
              <a:ea typeface="Calibri"/>
              <a:cs typeface="Calibri"/>
              <a:sym typeface="Calibri"/>
            </a:endParaRPr>
          </a:p>
        </p:txBody>
      </p:sp>
      <p:sp>
        <p:nvSpPr>
          <p:cNvPr id="228" name="Google Shape;228;p9"/>
          <p:cNvSpPr/>
          <p:nvPr/>
        </p:nvSpPr>
        <p:spPr>
          <a:xfrm>
            <a:off x="45720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Highest since Sept 2023</a:t>
            </a:r>
            <a:endParaRPr b="0" i="0" sz="800" u="none" cap="none" strike="noStrike">
              <a:solidFill>
                <a:schemeClr val="dk1"/>
              </a:solidFill>
              <a:latin typeface="Calibri"/>
              <a:ea typeface="Calibri"/>
              <a:cs typeface="Calibri"/>
              <a:sym typeface="Calibri"/>
            </a:endParaRPr>
          </a:p>
        </p:txBody>
      </p:sp>
      <p:sp>
        <p:nvSpPr>
          <p:cNvPr id="229" name="Google Shape;229;p9"/>
          <p:cNvSpPr/>
          <p:nvPr/>
        </p:nvSpPr>
        <p:spPr>
          <a:xfrm>
            <a:off x="251460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260604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PPI (APRIL)</a:t>
            </a:r>
            <a:endParaRPr b="0" i="0" sz="700" u="none" cap="none" strike="noStrike">
              <a:solidFill>
                <a:schemeClr val="dk1"/>
              </a:solidFill>
              <a:latin typeface="Calibri"/>
              <a:ea typeface="Calibri"/>
              <a:cs typeface="Calibri"/>
              <a:sym typeface="Calibri"/>
            </a:endParaRPr>
          </a:p>
        </p:txBody>
      </p:sp>
      <p:sp>
        <p:nvSpPr>
          <p:cNvPr id="231" name="Google Shape;231;p9"/>
          <p:cNvSpPr/>
          <p:nvPr/>
        </p:nvSpPr>
        <p:spPr>
          <a:xfrm>
            <a:off x="260604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6.0%</a:t>
            </a:r>
            <a:endParaRPr b="0" i="0" sz="2200" u="none" cap="none" strike="noStrike">
              <a:solidFill>
                <a:schemeClr val="dk1"/>
              </a:solidFill>
              <a:latin typeface="Calibri"/>
              <a:ea typeface="Calibri"/>
              <a:cs typeface="Calibri"/>
              <a:sym typeface="Calibri"/>
            </a:endParaRPr>
          </a:p>
        </p:txBody>
      </p:sp>
      <p:sp>
        <p:nvSpPr>
          <p:cNvPr id="232" name="Google Shape;232;p9"/>
          <p:cNvSpPr/>
          <p:nvPr/>
        </p:nvSpPr>
        <p:spPr>
          <a:xfrm>
            <a:off x="260604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Well above expectations</a:t>
            </a:r>
            <a:endParaRPr b="0" i="0" sz="800" u="none" cap="none" strike="noStrike">
              <a:solidFill>
                <a:schemeClr val="dk1"/>
              </a:solidFill>
              <a:latin typeface="Calibri"/>
              <a:ea typeface="Calibri"/>
              <a:cs typeface="Calibri"/>
              <a:sym typeface="Calibri"/>
            </a:endParaRPr>
          </a:p>
        </p:txBody>
      </p:sp>
      <p:sp>
        <p:nvSpPr>
          <p:cNvPr id="233" name="Google Shape;233;p9"/>
          <p:cNvSpPr/>
          <p:nvPr/>
        </p:nvSpPr>
        <p:spPr>
          <a:xfrm>
            <a:off x="466344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9"/>
          <p:cNvSpPr/>
          <p:nvPr/>
        </p:nvSpPr>
        <p:spPr>
          <a:xfrm>
            <a:off x="475488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RATE CUT ODDS</a:t>
            </a:r>
            <a:endParaRPr b="0" i="0" sz="700" u="none" cap="none" strike="noStrike">
              <a:solidFill>
                <a:schemeClr val="dk1"/>
              </a:solidFill>
              <a:latin typeface="Calibri"/>
              <a:ea typeface="Calibri"/>
              <a:cs typeface="Calibri"/>
              <a:sym typeface="Calibri"/>
            </a:endParaRPr>
          </a:p>
        </p:txBody>
      </p:sp>
      <p:sp>
        <p:nvSpPr>
          <p:cNvPr id="235" name="Google Shape;235;p9"/>
          <p:cNvSpPr/>
          <p:nvPr/>
        </p:nvSpPr>
        <p:spPr>
          <a:xfrm>
            <a:off x="475488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0%</a:t>
            </a:r>
            <a:endParaRPr b="0" i="0" sz="2200" u="none" cap="none" strike="noStrike">
              <a:solidFill>
                <a:schemeClr val="dk1"/>
              </a:solidFill>
              <a:latin typeface="Calibri"/>
              <a:ea typeface="Calibri"/>
              <a:cs typeface="Calibri"/>
              <a:sym typeface="Calibri"/>
            </a:endParaRPr>
          </a:p>
        </p:txBody>
      </p:sp>
      <p:sp>
        <p:nvSpPr>
          <p:cNvPr id="236" name="Google Shape;236;p9"/>
          <p:cNvSpPr/>
          <p:nvPr/>
        </p:nvSpPr>
        <p:spPr>
          <a:xfrm>
            <a:off x="475488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For remainder of 2026</a:t>
            </a:r>
            <a:endParaRPr b="0" i="0" sz="800" u="none" cap="none" strike="noStrike">
              <a:solidFill>
                <a:schemeClr val="dk1"/>
              </a:solidFill>
              <a:latin typeface="Calibri"/>
              <a:ea typeface="Calibri"/>
              <a:cs typeface="Calibri"/>
              <a:sym typeface="Calibri"/>
            </a:endParaRPr>
          </a:p>
        </p:txBody>
      </p:sp>
      <p:sp>
        <p:nvSpPr>
          <p:cNvPr id="237" name="Google Shape;237;p9"/>
          <p:cNvSpPr/>
          <p:nvPr/>
        </p:nvSpPr>
        <p:spPr>
          <a:xfrm>
            <a:off x="681228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690372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RATE HIKE ODDS</a:t>
            </a:r>
            <a:endParaRPr b="0" i="0" sz="700" u="none" cap="none" strike="noStrike">
              <a:solidFill>
                <a:schemeClr val="dk1"/>
              </a:solidFill>
              <a:latin typeface="Calibri"/>
              <a:ea typeface="Calibri"/>
              <a:cs typeface="Calibri"/>
              <a:sym typeface="Calibri"/>
            </a:endParaRPr>
          </a:p>
        </p:txBody>
      </p:sp>
      <p:sp>
        <p:nvSpPr>
          <p:cNvPr id="239" name="Google Shape;239;p9"/>
          <p:cNvSpPr/>
          <p:nvPr/>
        </p:nvSpPr>
        <p:spPr>
          <a:xfrm>
            <a:off x="690372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~45%</a:t>
            </a:r>
            <a:endParaRPr b="0" i="0" sz="2200" u="none" cap="none" strike="noStrike">
              <a:solidFill>
                <a:schemeClr val="dk1"/>
              </a:solidFill>
              <a:latin typeface="Calibri"/>
              <a:ea typeface="Calibri"/>
              <a:cs typeface="Calibri"/>
              <a:sym typeface="Calibri"/>
            </a:endParaRPr>
          </a:p>
        </p:txBody>
      </p:sp>
      <p:sp>
        <p:nvSpPr>
          <p:cNvPr id="240" name="Google Shape;240;p9"/>
          <p:cNvSpPr/>
          <p:nvPr/>
        </p:nvSpPr>
        <p:spPr>
          <a:xfrm>
            <a:off x="690372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Was 1% just one month ago</a:t>
            </a:r>
            <a:endParaRPr b="0" i="0" sz="800" u="none" cap="none" strike="noStrike">
              <a:solidFill>
                <a:schemeClr val="dk1"/>
              </a:solidFill>
              <a:latin typeface="Calibri"/>
              <a:ea typeface="Calibri"/>
              <a:cs typeface="Calibri"/>
              <a:sym typeface="Calibri"/>
            </a:endParaRPr>
          </a:p>
        </p:txBody>
      </p:sp>
      <p:sp>
        <p:nvSpPr>
          <p:cNvPr id="241" name="Google Shape;241;p9"/>
          <p:cNvSpPr/>
          <p:nvPr/>
        </p:nvSpPr>
        <p:spPr>
          <a:xfrm>
            <a:off x="365760" y="2176272"/>
            <a:ext cx="8412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1000"/>
              <a:buFont typeface="Calibri"/>
              <a:buNone/>
            </a:pPr>
            <a:r>
              <a:rPr b="1" i="0" lang="en-US" sz="1000" u="none" cap="none" strike="noStrike">
                <a:solidFill>
                  <a:srgbClr val="C8A96E"/>
                </a:solidFill>
                <a:latin typeface="Calibri"/>
                <a:ea typeface="Calibri"/>
                <a:cs typeface="Calibri"/>
                <a:sym typeface="Calibri"/>
              </a:rPr>
              <a:t>THE TIGHTROPE WARSH IS WALKING</a:t>
            </a:r>
            <a:endParaRPr b="0" i="0" sz="1000" u="none" cap="none" strike="noStrike">
              <a:solidFill>
                <a:schemeClr val="dk1"/>
              </a:solidFill>
              <a:latin typeface="Calibri"/>
              <a:ea typeface="Calibri"/>
              <a:cs typeface="Calibri"/>
              <a:sym typeface="Calibri"/>
            </a:endParaRPr>
          </a:p>
        </p:txBody>
      </p:sp>
      <p:sp>
        <p:nvSpPr>
          <p:cNvPr id="242" name="Google Shape;242;p9"/>
          <p:cNvSpPr/>
          <p:nvPr/>
        </p:nvSpPr>
        <p:spPr>
          <a:xfrm>
            <a:off x="365760" y="2523744"/>
            <a:ext cx="36576" cy="640080"/>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502920" y="2523744"/>
            <a:ext cx="40690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Confirmed 54-45 (May 13)</a:t>
            </a:r>
            <a:endParaRPr b="0" i="0" sz="950" u="none" cap="none" strike="noStrike">
              <a:solidFill>
                <a:schemeClr val="dk1"/>
              </a:solidFill>
              <a:latin typeface="Calibri"/>
              <a:ea typeface="Calibri"/>
              <a:cs typeface="Calibri"/>
              <a:sym typeface="Calibri"/>
            </a:endParaRPr>
          </a:p>
        </p:txBody>
      </p:sp>
      <p:sp>
        <p:nvSpPr>
          <p:cNvPr id="244" name="Google Shape;244;p9"/>
          <p:cNvSpPr/>
          <p:nvPr/>
        </p:nvSpPr>
        <p:spPr>
          <a:xfrm>
            <a:off x="502920" y="2779776"/>
            <a:ext cx="406908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50"/>
              <a:buFont typeface="Calibri"/>
              <a:buNone/>
            </a:pPr>
            <a:r>
              <a:rPr b="0" i="0" lang="en-US" sz="850" u="none" cap="none" strike="noStrike">
                <a:solidFill>
                  <a:srgbClr val="8899AA"/>
                </a:solidFill>
                <a:latin typeface="Calibri"/>
                <a:ea typeface="Calibri"/>
                <a:cs typeface="Calibri"/>
                <a:sym typeface="Calibri"/>
              </a:rPr>
              <a:t>Most partisan Fed chair vote in history. Powell stays on board as governor — unusual dynamic, still has a vote.</a:t>
            </a:r>
            <a:endParaRPr b="0" i="0" sz="850" u="none" cap="none" strike="noStrike">
              <a:solidFill>
                <a:schemeClr val="dk1"/>
              </a:solidFill>
              <a:latin typeface="Calibri"/>
              <a:ea typeface="Calibri"/>
              <a:cs typeface="Calibri"/>
              <a:sym typeface="Calibri"/>
            </a:endParaRPr>
          </a:p>
        </p:txBody>
      </p:sp>
      <p:sp>
        <p:nvSpPr>
          <p:cNvPr id="245" name="Google Shape;245;p9"/>
          <p:cNvSpPr/>
          <p:nvPr/>
        </p:nvSpPr>
        <p:spPr>
          <a:xfrm>
            <a:off x="365760" y="3300984"/>
            <a:ext cx="36576" cy="640080"/>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502920" y="3300984"/>
            <a:ext cx="40690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Warsh's first FOMC: June 16-17</a:t>
            </a:r>
            <a:endParaRPr b="0" i="0" sz="950" u="none" cap="none" strike="noStrike">
              <a:solidFill>
                <a:schemeClr val="dk1"/>
              </a:solidFill>
              <a:latin typeface="Calibri"/>
              <a:ea typeface="Calibri"/>
              <a:cs typeface="Calibri"/>
              <a:sym typeface="Calibri"/>
            </a:endParaRPr>
          </a:p>
        </p:txBody>
      </p:sp>
      <p:sp>
        <p:nvSpPr>
          <p:cNvPr id="247" name="Google Shape;247;p9"/>
          <p:cNvSpPr/>
          <p:nvPr/>
        </p:nvSpPr>
        <p:spPr>
          <a:xfrm>
            <a:off x="502920" y="3557016"/>
            <a:ext cx="406908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50"/>
              <a:buFont typeface="Calibri"/>
              <a:buNone/>
            </a:pPr>
            <a:r>
              <a:rPr b="0" i="0" lang="en-US" sz="850" u="none" cap="none" strike="noStrike">
                <a:solidFill>
                  <a:srgbClr val="8899AA"/>
                </a:solidFill>
                <a:latin typeface="Calibri"/>
                <a:ea typeface="Calibri"/>
                <a:cs typeface="Calibri"/>
                <a:sym typeface="Calibri"/>
              </a:rPr>
              <a:t>This week: Powell's final meeting minutes drop Wednesday. Markets want the dissent map. Three members signaled a hike could come before a cut.</a:t>
            </a:r>
            <a:endParaRPr b="0" i="0" sz="850" u="none" cap="none" strike="noStrike">
              <a:solidFill>
                <a:schemeClr val="dk1"/>
              </a:solidFill>
              <a:latin typeface="Calibri"/>
              <a:ea typeface="Calibri"/>
              <a:cs typeface="Calibri"/>
              <a:sym typeface="Calibri"/>
            </a:endParaRPr>
          </a:p>
        </p:txBody>
      </p:sp>
      <p:sp>
        <p:nvSpPr>
          <p:cNvPr id="248" name="Google Shape;248;p9"/>
          <p:cNvSpPr/>
          <p:nvPr/>
        </p:nvSpPr>
        <p:spPr>
          <a:xfrm>
            <a:off x="365760" y="4078224"/>
            <a:ext cx="36576" cy="640080"/>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p:nvPr/>
        </p:nvSpPr>
        <p:spPr>
          <a:xfrm>
            <a:off x="502920" y="4078224"/>
            <a:ext cx="40690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Crypto-friendly background</a:t>
            </a:r>
            <a:endParaRPr b="0" i="0" sz="950" u="none" cap="none" strike="noStrike">
              <a:solidFill>
                <a:schemeClr val="dk1"/>
              </a:solidFill>
              <a:latin typeface="Calibri"/>
              <a:ea typeface="Calibri"/>
              <a:cs typeface="Calibri"/>
              <a:sym typeface="Calibri"/>
            </a:endParaRPr>
          </a:p>
        </p:txBody>
      </p:sp>
      <p:sp>
        <p:nvSpPr>
          <p:cNvPr id="250" name="Google Shape;250;p9"/>
          <p:cNvSpPr/>
          <p:nvPr/>
        </p:nvSpPr>
        <p:spPr>
          <a:xfrm>
            <a:off x="502920" y="4334256"/>
            <a:ext cx="406908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50"/>
              <a:buFont typeface="Calibri"/>
              <a:buNone/>
            </a:pPr>
            <a:r>
              <a:rPr b="0" i="0" lang="en-US" sz="850" u="none" cap="none" strike="noStrike">
                <a:solidFill>
                  <a:srgbClr val="8899AA"/>
                </a:solidFill>
                <a:latin typeface="Calibri"/>
                <a:ea typeface="Calibri"/>
                <a:cs typeface="Calibri"/>
                <a:sym typeface="Calibri"/>
              </a:rPr>
              <a:t>Prior investments in DeFi, tokenized networks, and crypto payments — pledged to divest most before taking office.</a:t>
            </a:r>
            <a:endParaRPr b="0" i="0" sz="850" u="none" cap="none" strike="noStrike">
              <a:solidFill>
                <a:schemeClr val="dk1"/>
              </a:solidFill>
              <a:latin typeface="Calibri"/>
              <a:ea typeface="Calibri"/>
              <a:cs typeface="Calibri"/>
              <a:sym typeface="Calibri"/>
            </a:endParaRPr>
          </a:p>
        </p:txBody>
      </p:sp>
      <p:sp>
        <p:nvSpPr>
          <p:cNvPr id="251" name="Google Shape;251;p9"/>
          <p:cNvSpPr/>
          <p:nvPr/>
        </p:nvSpPr>
        <p:spPr>
          <a:xfrm>
            <a:off x="4663440" y="2523744"/>
            <a:ext cx="36576" cy="640080"/>
          </a:xfrm>
          <a:prstGeom prst="rect">
            <a:avLst/>
          </a:prstGeom>
          <a:solidFill>
            <a:srgbClr val="F5A623"/>
          </a:solidFill>
          <a:ln cap="flat" cmpd="sng" w="1270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a:off x="4800600" y="2523744"/>
            <a:ext cx="39776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TRUMP WANTS</a:t>
            </a:r>
            <a:endParaRPr b="0" i="0" sz="950" u="none" cap="none" strike="noStrike">
              <a:solidFill>
                <a:schemeClr val="dk1"/>
              </a:solidFill>
              <a:latin typeface="Calibri"/>
              <a:ea typeface="Calibri"/>
              <a:cs typeface="Calibri"/>
              <a:sym typeface="Calibri"/>
            </a:endParaRPr>
          </a:p>
        </p:txBody>
      </p:sp>
      <p:sp>
        <p:nvSpPr>
          <p:cNvPr id="253" name="Google Shape;253;p9"/>
          <p:cNvSpPr/>
          <p:nvPr/>
        </p:nvSpPr>
        <p:spPr>
          <a:xfrm>
            <a:off x="4800600" y="2779776"/>
            <a:ext cx="397764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50"/>
              <a:buFont typeface="Calibri"/>
              <a:buNone/>
            </a:pPr>
            <a:r>
              <a:rPr b="0" i="0" lang="en-US" sz="850" u="none" cap="none" strike="noStrike">
                <a:solidFill>
                  <a:srgbClr val="8899AA"/>
                </a:solidFill>
                <a:latin typeface="Calibri"/>
                <a:ea typeface="Calibri"/>
                <a:cs typeface="Calibri"/>
                <a:sym typeface="Calibri"/>
              </a:rPr>
              <a:t>Rate cuts — now. He's already joked he'd 'sue Warsh if he doesn't cut rates.'</a:t>
            </a:r>
            <a:endParaRPr b="0" i="0" sz="850" u="none" cap="none" strike="noStrike">
              <a:solidFill>
                <a:schemeClr val="dk1"/>
              </a:solidFill>
              <a:latin typeface="Calibri"/>
              <a:ea typeface="Calibri"/>
              <a:cs typeface="Calibri"/>
              <a:sym typeface="Calibri"/>
            </a:endParaRPr>
          </a:p>
        </p:txBody>
      </p:sp>
      <p:sp>
        <p:nvSpPr>
          <p:cNvPr id="254" name="Google Shape;254;p9"/>
          <p:cNvSpPr/>
          <p:nvPr/>
        </p:nvSpPr>
        <p:spPr>
          <a:xfrm>
            <a:off x="4663440" y="3300984"/>
            <a:ext cx="36576" cy="640080"/>
          </a:xfrm>
          <a:prstGeom prst="rect">
            <a:avLst/>
          </a:prstGeom>
          <a:solidFill>
            <a:srgbClr val="F5A623"/>
          </a:solidFill>
          <a:ln cap="flat" cmpd="sng" w="1270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p:nvPr/>
        </p:nvSpPr>
        <p:spPr>
          <a:xfrm>
            <a:off x="4800600" y="3300984"/>
            <a:ext cx="39776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DATA SAYS</a:t>
            </a:r>
            <a:endParaRPr b="0" i="0" sz="950" u="none" cap="none" strike="noStrike">
              <a:solidFill>
                <a:schemeClr val="dk1"/>
              </a:solidFill>
              <a:latin typeface="Calibri"/>
              <a:ea typeface="Calibri"/>
              <a:cs typeface="Calibri"/>
              <a:sym typeface="Calibri"/>
            </a:endParaRPr>
          </a:p>
        </p:txBody>
      </p:sp>
      <p:sp>
        <p:nvSpPr>
          <p:cNvPr id="256" name="Google Shape;256;p9"/>
          <p:cNvSpPr/>
          <p:nvPr/>
        </p:nvSpPr>
        <p:spPr>
          <a:xfrm>
            <a:off x="4800600" y="3557016"/>
            <a:ext cx="397764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50"/>
              <a:buFont typeface="Calibri"/>
              <a:buNone/>
            </a:pPr>
            <a:r>
              <a:rPr b="0" i="0" lang="en-US" sz="850" u="none" cap="none" strike="noStrike">
                <a:solidFill>
                  <a:srgbClr val="8899AA"/>
                </a:solidFill>
                <a:latin typeface="Calibri"/>
                <a:ea typeface="Calibri"/>
                <a:cs typeface="Calibri"/>
                <a:sym typeface="Calibri"/>
              </a:rPr>
              <a:t>CPI 3.8%, PPI 6%, oil above $107. The data argues for holding — or hiking.</a:t>
            </a:r>
            <a:endParaRPr b="0" i="0" sz="850" u="none" cap="none" strike="noStrike">
              <a:solidFill>
                <a:schemeClr val="dk1"/>
              </a:solidFill>
              <a:latin typeface="Calibri"/>
              <a:ea typeface="Calibri"/>
              <a:cs typeface="Calibri"/>
              <a:sym typeface="Calibri"/>
            </a:endParaRPr>
          </a:p>
        </p:txBody>
      </p:sp>
      <p:sp>
        <p:nvSpPr>
          <p:cNvPr id="257" name="Google Shape;257;p9"/>
          <p:cNvSpPr/>
          <p:nvPr/>
        </p:nvSpPr>
        <p:spPr>
          <a:xfrm>
            <a:off x="4663440" y="4078224"/>
            <a:ext cx="36576" cy="640080"/>
          </a:xfrm>
          <a:prstGeom prst="rect">
            <a:avLst/>
          </a:prstGeom>
          <a:solidFill>
            <a:srgbClr val="F5A623"/>
          </a:solidFill>
          <a:ln cap="flat" cmpd="sng" w="1270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4800600" y="4078224"/>
            <a:ext cx="397764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WARSH'S LATITUDE</a:t>
            </a:r>
            <a:endParaRPr b="0" i="0" sz="950" u="none" cap="none" strike="noStrike">
              <a:solidFill>
                <a:schemeClr val="dk1"/>
              </a:solidFill>
              <a:latin typeface="Calibri"/>
              <a:ea typeface="Calibri"/>
              <a:cs typeface="Calibri"/>
              <a:sym typeface="Calibri"/>
            </a:endParaRPr>
          </a:p>
        </p:txBody>
      </p:sp>
      <p:sp>
        <p:nvSpPr>
          <p:cNvPr id="259" name="Google Shape;259;p9"/>
          <p:cNvSpPr/>
          <p:nvPr/>
        </p:nvSpPr>
        <p:spPr>
          <a:xfrm>
            <a:off x="4800600" y="4334256"/>
            <a:ext cx="397764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50"/>
              <a:buFont typeface="Calibri"/>
              <a:buNone/>
            </a:pPr>
            <a:r>
              <a:rPr b="0" i="0" lang="en-US" sz="850" u="none" cap="none" strike="noStrike">
                <a:solidFill>
                  <a:srgbClr val="8899AA"/>
                </a:solidFill>
                <a:latin typeface="Calibri"/>
                <a:ea typeface="Calibri"/>
                <a:cs typeface="Calibri"/>
                <a:sym typeface="Calibri"/>
              </a:rPr>
              <a:t>Has said AI is a 'significant disinflationary force' — provides cover to cut even with elevated inflation. Also wants to abandon the hard 2% target for a range.</a:t>
            </a:r>
            <a:endParaRPr b="0" i="0" sz="850" u="none" cap="none" strike="noStrike">
              <a:solidFill>
                <a:schemeClr val="dk1"/>
              </a:solidFill>
              <a:latin typeface="Calibri"/>
              <a:ea typeface="Calibri"/>
              <a:cs typeface="Calibri"/>
              <a:sym typeface="Calibri"/>
            </a:endParaRPr>
          </a:p>
        </p:txBody>
      </p:sp>
      <p:sp>
        <p:nvSpPr>
          <p:cNvPr id="260" name="Google Shape;260;p9"/>
          <p:cNvSpPr/>
          <p:nvPr/>
        </p:nvSpPr>
        <p:spPr>
          <a:xfrm>
            <a:off x="365760" y="4846320"/>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C6E"/>
              </a:buClr>
              <a:buSzPts val="700"/>
              <a:buFont typeface="Calibri"/>
              <a:buNone/>
            </a:pPr>
            <a:r>
              <a:rPr b="0" i="0" lang="en-US" sz="700" u="none" cap="none" strike="noStrike">
                <a:solidFill>
                  <a:srgbClr val="4A5C6E"/>
                </a:solidFill>
                <a:latin typeface="Calibri"/>
                <a:ea typeface="Calibri"/>
                <a:cs typeface="Calibri"/>
                <a:sym typeface="Calibri"/>
              </a:rPr>
              <a:t>Decentralized Masters  |  Tyler  |  May 18, 2026  |  Educational only. Not financial advice.</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65" name="Shape 265"/>
        <p:cNvGrpSpPr/>
        <p:nvPr/>
      </p:nvGrpSpPr>
      <p:grpSpPr>
        <a:xfrm>
          <a:off x="0" y="0"/>
          <a:ext cx="0" cy="0"/>
          <a:chOff x="0" y="0"/>
          <a:chExt cx="0" cy="0"/>
        </a:xfrm>
      </p:grpSpPr>
      <p:sp>
        <p:nvSpPr>
          <p:cNvPr id="266" name="Google Shape;266;p10"/>
          <p:cNvSpPr/>
          <p:nvPr/>
        </p:nvSpPr>
        <p:spPr>
          <a:xfrm>
            <a:off x="365760" y="164592"/>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750"/>
              <a:buFont typeface="Calibri"/>
              <a:buNone/>
            </a:pPr>
            <a:r>
              <a:rPr b="1" i="0" lang="en-US" sz="750" u="none" cap="none" strike="noStrike">
                <a:solidFill>
                  <a:srgbClr val="C8A96E"/>
                </a:solidFill>
                <a:latin typeface="Calibri"/>
                <a:ea typeface="Calibri"/>
                <a:cs typeface="Calibri"/>
                <a:sym typeface="Calibri"/>
              </a:rPr>
              <a:t>MACRO — EQUITIES, DOLLAR &amp; GOLD</a:t>
            </a:r>
            <a:endParaRPr b="0" i="0" sz="750" u="none" cap="none" strike="noStrike">
              <a:solidFill>
                <a:schemeClr val="dk1"/>
              </a:solidFill>
              <a:latin typeface="Calibri"/>
              <a:ea typeface="Calibri"/>
              <a:cs typeface="Calibri"/>
              <a:sym typeface="Calibri"/>
            </a:endParaRPr>
          </a:p>
        </p:txBody>
      </p:sp>
      <p:sp>
        <p:nvSpPr>
          <p:cNvPr id="267" name="Google Shape;267;p10"/>
          <p:cNvSpPr/>
          <p:nvPr/>
        </p:nvSpPr>
        <p:spPr>
          <a:xfrm>
            <a:off x="365760" y="402336"/>
            <a:ext cx="7315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Equities Bifurcating — Gold Counter-Intuitive</a:t>
            </a:r>
            <a:endParaRPr b="0" i="0" sz="2600" u="none" cap="none" strike="noStrike">
              <a:solidFill>
                <a:schemeClr val="dk1"/>
              </a:solidFill>
              <a:latin typeface="Calibri"/>
              <a:ea typeface="Calibri"/>
              <a:cs typeface="Calibri"/>
              <a:sym typeface="Calibri"/>
            </a:endParaRPr>
          </a:p>
        </p:txBody>
      </p:sp>
      <p:sp>
        <p:nvSpPr>
          <p:cNvPr id="268" name="Google Shape;268;p10"/>
          <p:cNvSpPr/>
          <p:nvPr/>
        </p:nvSpPr>
        <p:spPr>
          <a:xfrm>
            <a:off x="8138160" y="73152"/>
            <a:ext cx="475488" cy="475488"/>
          </a:xfrm>
          <a:prstGeom prst="ellipse">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9" name="Google Shape;269;p10"/>
          <p:cNvPicPr preferRelativeResize="0"/>
          <p:nvPr/>
        </p:nvPicPr>
        <p:blipFill rotWithShape="1">
          <a:blip r:embed="rId3">
            <a:alphaModFix/>
          </a:blip>
          <a:srcRect b="0" l="0" r="0" t="0"/>
          <a:stretch/>
        </p:blipFill>
        <p:spPr>
          <a:xfrm>
            <a:off x="8193024" y="128016"/>
            <a:ext cx="365760" cy="365760"/>
          </a:xfrm>
          <a:prstGeom prst="rect">
            <a:avLst/>
          </a:prstGeom>
          <a:noFill/>
          <a:ln>
            <a:noFill/>
          </a:ln>
        </p:spPr>
      </p:pic>
      <p:sp>
        <p:nvSpPr>
          <p:cNvPr id="270" name="Google Shape;270;p10"/>
          <p:cNvSpPr/>
          <p:nvPr/>
        </p:nvSpPr>
        <p:spPr>
          <a:xfrm>
            <a:off x="36576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p:nvPr/>
        </p:nvSpPr>
        <p:spPr>
          <a:xfrm>
            <a:off x="45720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S&amp;P 500 OPEN</a:t>
            </a:r>
            <a:endParaRPr b="0" i="0" sz="700" u="none" cap="none" strike="noStrike">
              <a:solidFill>
                <a:schemeClr val="dk1"/>
              </a:solidFill>
              <a:latin typeface="Calibri"/>
              <a:ea typeface="Calibri"/>
              <a:cs typeface="Calibri"/>
              <a:sym typeface="Calibri"/>
            </a:endParaRPr>
          </a:p>
        </p:txBody>
      </p:sp>
      <p:sp>
        <p:nvSpPr>
          <p:cNvPr id="272" name="Google Shape;272;p10"/>
          <p:cNvSpPr/>
          <p:nvPr/>
        </p:nvSpPr>
        <p:spPr>
          <a:xfrm>
            <a:off x="45720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-1.24%</a:t>
            </a:r>
            <a:endParaRPr b="0" i="0" sz="2200" u="none" cap="none" strike="noStrike">
              <a:solidFill>
                <a:schemeClr val="dk1"/>
              </a:solidFill>
              <a:latin typeface="Calibri"/>
              <a:ea typeface="Calibri"/>
              <a:cs typeface="Calibri"/>
              <a:sym typeface="Calibri"/>
            </a:endParaRPr>
          </a:p>
        </p:txBody>
      </p:sp>
      <p:sp>
        <p:nvSpPr>
          <p:cNvPr id="273" name="Google Shape;273;p10"/>
          <p:cNvSpPr/>
          <p:nvPr/>
        </p:nvSpPr>
        <p:spPr>
          <a:xfrm>
            <a:off x="45720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Risk-off Monday open</a:t>
            </a:r>
            <a:endParaRPr b="0" i="0" sz="800" u="none" cap="none" strike="noStrike">
              <a:solidFill>
                <a:schemeClr val="dk1"/>
              </a:solidFill>
              <a:latin typeface="Calibri"/>
              <a:ea typeface="Calibri"/>
              <a:cs typeface="Calibri"/>
              <a:sym typeface="Calibri"/>
            </a:endParaRPr>
          </a:p>
        </p:txBody>
      </p:sp>
      <p:sp>
        <p:nvSpPr>
          <p:cNvPr id="274" name="Google Shape;274;p10"/>
          <p:cNvSpPr/>
          <p:nvPr/>
        </p:nvSpPr>
        <p:spPr>
          <a:xfrm>
            <a:off x="251460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260604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NASDAQ</a:t>
            </a:r>
            <a:endParaRPr b="0" i="0" sz="700" u="none" cap="none" strike="noStrike">
              <a:solidFill>
                <a:schemeClr val="dk1"/>
              </a:solidFill>
              <a:latin typeface="Calibri"/>
              <a:ea typeface="Calibri"/>
              <a:cs typeface="Calibri"/>
              <a:sym typeface="Calibri"/>
            </a:endParaRPr>
          </a:p>
        </p:txBody>
      </p:sp>
      <p:sp>
        <p:nvSpPr>
          <p:cNvPr id="276" name="Google Shape;276;p10"/>
          <p:cNvSpPr/>
          <p:nvPr/>
        </p:nvSpPr>
        <p:spPr>
          <a:xfrm>
            <a:off x="260604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6B6B"/>
              </a:buClr>
              <a:buSzPts val="2200"/>
              <a:buFont typeface="Calibri"/>
              <a:buNone/>
            </a:pPr>
            <a:r>
              <a:rPr b="1" i="0" lang="en-US" sz="2200" u="none" cap="none" strike="noStrike">
                <a:solidFill>
                  <a:srgbClr val="FF6B6B"/>
                </a:solidFill>
                <a:latin typeface="Calibri"/>
                <a:ea typeface="Calibri"/>
                <a:cs typeface="Calibri"/>
                <a:sym typeface="Calibri"/>
              </a:rPr>
              <a:t>-1.54%</a:t>
            </a:r>
            <a:endParaRPr b="0" i="0" sz="2200" u="none" cap="none" strike="noStrike">
              <a:solidFill>
                <a:schemeClr val="dk1"/>
              </a:solidFill>
              <a:latin typeface="Calibri"/>
              <a:ea typeface="Calibri"/>
              <a:cs typeface="Calibri"/>
              <a:sym typeface="Calibri"/>
            </a:endParaRPr>
          </a:p>
        </p:txBody>
      </p:sp>
      <p:sp>
        <p:nvSpPr>
          <p:cNvPr id="277" name="Google Shape;277;p10"/>
          <p:cNvSpPr/>
          <p:nvPr/>
        </p:nvSpPr>
        <p:spPr>
          <a:xfrm>
            <a:off x="260604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Tech leading lower</a:t>
            </a:r>
            <a:endParaRPr b="0" i="0" sz="800" u="none" cap="none" strike="noStrike">
              <a:solidFill>
                <a:schemeClr val="dk1"/>
              </a:solidFill>
              <a:latin typeface="Calibri"/>
              <a:ea typeface="Calibri"/>
              <a:cs typeface="Calibri"/>
              <a:sym typeface="Calibri"/>
            </a:endParaRPr>
          </a:p>
        </p:txBody>
      </p:sp>
      <p:sp>
        <p:nvSpPr>
          <p:cNvPr id="278" name="Google Shape;278;p10"/>
          <p:cNvSpPr/>
          <p:nvPr/>
        </p:nvSpPr>
        <p:spPr>
          <a:xfrm>
            <a:off x="466344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475488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GOLD (XAU)</a:t>
            </a:r>
            <a:endParaRPr b="0" i="0" sz="700" u="none" cap="none" strike="noStrike">
              <a:solidFill>
                <a:schemeClr val="dk1"/>
              </a:solidFill>
              <a:latin typeface="Calibri"/>
              <a:ea typeface="Calibri"/>
              <a:cs typeface="Calibri"/>
              <a:sym typeface="Calibri"/>
            </a:endParaRPr>
          </a:p>
        </p:txBody>
      </p:sp>
      <p:sp>
        <p:nvSpPr>
          <p:cNvPr id="280" name="Google Shape;280;p10"/>
          <p:cNvSpPr/>
          <p:nvPr/>
        </p:nvSpPr>
        <p:spPr>
          <a:xfrm>
            <a:off x="475488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~$4,550</a:t>
            </a:r>
            <a:endParaRPr b="0" i="0" sz="2200" u="none" cap="none" strike="noStrike">
              <a:solidFill>
                <a:schemeClr val="dk1"/>
              </a:solidFill>
              <a:latin typeface="Calibri"/>
              <a:ea typeface="Calibri"/>
              <a:cs typeface="Calibri"/>
              <a:sym typeface="Calibri"/>
            </a:endParaRPr>
          </a:p>
        </p:txBody>
      </p:sp>
      <p:sp>
        <p:nvSpPr>
          <p:cNvPr id="281" name="Google Shape;281;p10"/>
          <p:cNvSpPr/>
          <p:nvPr/>
        </p:nvSpPr>
        <p:spPr>
          <a:xfrm>
            <a:off x="475488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Down ~4% last week</a:t>
            </a:r>
            <a:endParaRPr b="0" i="0" sz="800" u="none" cap="none" strike="noStrike">
              <a:solidFill>
                <a:schemeClr val="dk1"/>
              </a:solidFill>
              <a:latin typeface="Calibri"/>
              <a:ea typeface="Calibri"/>
              <a:cs typeface="Calibri"/>
              <a:sym typeface="Calibri"/>
            </a:endParaRPr>
          </a:p>
        </p:txBody>
      </p:sp>
      <p:sp>
        <p:nvSpPr>
          <p:cNvPr id="282" name="Google Shape;282;p10"/>
          <p:cNvSpPr/>
          <p:nvPr/>
        </p:nvSpPr>
        <p:spPr>
          <a:xfrm>
            <a:off x="6812280" y="1097280"/>
            <a:ext cx="2011680" cy="91440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0"/>
          <p:cNvSpPr/>
          <p:nvPr/>
        </p:nvSpPr>
        <p:spPr>
          <a:xfrm>
            <a:off x="6903720" y="1188720"/>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00"/>
              <a:buFont typeface="Calibri"/>
              <a:buNone/>
            </a:pPr>
            <a:r>
              <a:rPr b="1" i="0" lang="en-US" sz="700" u="none" cap="none" strike="noStrike">
                <a:solidFill>
                  <a:srgbClr val="8899AA"/>
                </a:solidFill>
                <a:latin typeface="Calibri"/>
                <a:ea typeface="Calibri"/>
                <a:cs typeface="Calibri"/>
                <a:sym typeface="Calibri"/>
              </a:rPr>
              <a:t>GOLD DEMAND</a:t>
            </a:r>
            <a:endParaRPr b="0" i="0" sz="700" u="none" cap="none" strike="noStrike">
              <a:solidFill>
                <a:schemeClr val="dk1"/>
              </a:solidFill>
              <a:latin typeface="Calibri"/>
              <a:ea typeface="Calibri"/>
              <a:cs typeface="Calibri"/>
              <a:sym typeface="Calibri"/>
            </a:endParaRPr>
          </a:p>
        </p:txBody>
      </p:sp>
      <p:sp>
        <p:nvSpPr>
          <p:cNvPr id="284" name="Google Shape;284;p10"/>
          <p:cNvSpPr/>
          <p:nvPr/>
        </p:nvSpPr>
        <p:spPr>
          <a:xfrm>
            <a:off x="6903720" y="1371600"/>
            <a:ext cx="1828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BFA5"/>
              </a:buClr>
              <a:buSzPts val="2200"/>
              <a:buFont typeface="Calibri"/>
              <a:buNone/>
            </a:pPr>
            <a:r>
              <a:rPr b="1" i="0" lang="en-US" sz="2200" u="none" cap="none" strike="noStrike">
                <a:solidFill>
                  <a:srgbClr val="00BFA5"/>
                </a:solidFill>
                <a:latin typeface="Calibri"/>
                <a:ea typeface="Calibri"/>
                <a:cs typeface="Calibri"/>
                <a:sym typeface="Calibri"/>
              </a:rPr>
              <a:t>Record</a:t>
            </a:r>
            <a:endParaRPr b="0" i="0" sz="2200" u="none" cap="none" strike="noStrike">
              <a:solidFill>
                <a:schemeClr val="dk1"/>
              </a:solidFill>
              <a:latin typeface="Calibri"/>
              <a:ea typeface="Calibri"/>
              <a:cs typeface="Calibri"/>
              <a:sym typeface="Calibri"/>
            </a:endParaRPr>
          </a:p>
        </p:txBody>
      </p:sp>
      <p:sp>
        <p:nvSpPr>
          <p:cNvPr id="285" name="Google Shape;285;p10"/>
          <p:cNvSpPr/>
          <p:nvPr/>
        </p:nvSpPr>
        <p:spPr>
          <a:xfrm>
            <a:off x="6903720" y="1810512"/>
            <a:ext cx="18288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Q1 2026 WGC — bar/coin +42%YoY</a:t>
            </a:r>
            <a:endParaRPr b="0" i="0" sz="800" u="none" cap="none" strike="noStrike">
              <a:solidFill>
                <a:schemeClr val="dk1"/>
              </a:solidFill>
              <a:latin typeface="Calibri"/>
              <a:ea typeface="Calibri"/>
              <a:cs typeface="Calibri"/>
              <a:sym typeface="Calibri"/>
            </a:endParaRPr>
          </a:p>
        </p:txBody>
      </p:sp>
      <p:sp>
        <p:nvSpPr>
          <p:cNvPr id="286" name="Google Shape;286;p10"/>
          <p:cNvSpPr/>
          <p:nvPr/>
        </p:nvSpPr>
        <p:spPr>
          <a:xfrm>
            <a:off x="365760" y="2176272"/>
            <a:ext cx="8412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1000"/>
              <a:buFont typeface="Calibri"/>
              <a:buNone/>
            </a:pPr>
            <a:r>
              <a:rPr b="1" i="0" lang="en-US" sz="1000" u="none" cap="none" strike="noStrike">
                <a:solidFill>
                  <a:srgbClr val="C8A96E"/>
                </a:solidFill>
                <a:latin typeface="Calibri"/>
                <a:ea typeface="Calibri"/>
                <a:cs typeface="Calibri"/>
                <a:sym typeface="Calibri"/>
              </a:rPr>
              <a:t>WHY GOLD FELL DESPITE GEOPOLITICAL RISK</a:t>
            </a:r>
            <a:endParaRPr b="0" i="0" sz="1000" u="none" cap="none" strike="noStrike">
              <a:solidFill>
                <a:schemeClr val="dk1"/>
              </a:solidFill>
              <a:latin typeface="Calibri"/>
              <a:ea typeface="Calibri"/>
              <a:cs typeface="Calibri"/>
              <a:sym typeface="Calibri"/>
            </a:endParaRPr>
          </a:p>
        </p:txBody>
      </p:sp>
      <p:sp>
        <p:nvSpPr>
          <p:cNvPr id="287" name="Google Shape;287;p10"/>
          <p:cNvSpPr/>
          <p:nvPr/>
        </p:nvSpPr>
        <p:spPr>
          <a:xfrm>
            <a:off x="365760" y="2505456"/>
            <a:ext cx="841248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50"/>
              <a:buFont typeface="Calibri"/>
              <a:buNone/>
            </a:pPr>
            <a:r>
              <a:rPr b="0" i="0" lang="en-US" sz="950" u="none" cap="none" strike="noStrike">
                <a:solidFill>
                  <a:srgbClr val="8899AA"/>
                </a:solidFill>
                <a:latin typeface="Calibri"/>
                <a:ea typeface="Calibri"/>
                <a:cs typeface="Calibri"/>
                <a:sym typeface="Calibri"/>
              </a:rPr>
              <a:t>Hot CPI + PPI prints shifted rate expectations toward hikes rather than cuts. A stronger dollar and surging yields (10Y at 4.55%, near 1-year high) raised the opportunity cost of holding gold. The safe-haven bid was overwhelmed by the macro rates repricing. Key reminder: gold is not purely a fear trade — it's deeply sensitive to real yields and dollar strength.</a:t>
            </a:r>
            <a:endParaRPr b="0" i="0" sz="950" u="none" cap="none" strike="noStrike">
              <a:solidFill>
                <a:schemeClr val="dk1"/>
              </a:solidFill>
              <a:latin typeface="Calibri"/>
              <a:ea typeface="Calibri"/>
              <a:cs typeface="Calibri"/>
              <a:sym typeface="Calibri"/>
            </a:endParaRPr>
          </a:p>
        </p:txBody>
      </p:sp>
      <p:sp>
        <p:nvSpPr>
          <p:cNvPr id="288" name="Google Shape;288;p10"/>
          <p:cNvSpPr/>
          <p:nvPr/>
        </p:nvSpPr>
        <p:spPr>
          <a:xfrm>
            <a:off x="365760" y="3200400"/>
            <a:ext cx="84124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1000"/>
              <a:buFont typeface="Calibri"/>
              <a:buNone/>
            </a:pPr>
            <a:r>
              <a:rPr b="1" i="0" lang="en-US" sz="1000" u="none" cap="none" strike="noStrike">
                <a:solidFill>
                  <a:srgbClr val="C8A96E"/>
                </a:solidFill>
                <a:latin typeface="Calibri"/>
                <a:ea typeface="Calibri"/>
                <a:cs typeface="Calibri"/>
                <a:sym typeface="Calibri"/>
              </a:rPr>
              <a:t>EQUITIES — THE BLACKROCK OBSERVATION</a:t>
            </a:r>
            <a:endParaRPr b="0" i="0" sz="1000" u="none" cap="none" strike="noStrike">
              <a:solidFill>
                <a:schemeClr val="dk1"/>
              </a:solidFill>
              <a:latin typeface="Calibri"/>
              <a:ea typeface="Calibri"/>
              <a:cs typeface="Calibri"/>
              <a:sym typeface="Calibri"/>
            </a:endParaRPr>
          </a:p>
        </p:txBody>
      </p:sp>
      <p:sp>
        <p:nvSpPr>
          <p:cNvPr id="289" name="Google Shape;289;p10"/>
          <p:cNvSpPr/>
          <p:nvPr/>
        </p:nvSpPr>
        <p:spPr>
          <a:xfrm>
            <a:off x="365760" y="3520440"/>
            <a:ext cx="457200" cy="256032"/>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0"/>
          <p:cNvSpPr/>
          <p:nvPr/>
        </p:nvSpPr>
        <p:spPr>
          <a:xfrm>
            <a:off x="384048" y="3529584"/>
            <a:ext cx="420624"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700"/>
              <a:buFont typeface="Calibri"/>
              <a:buNone/>
            </a:pPr>
            <a:r>
              <a:rPr b="1" i="0" lang="en-US" sz="700" u="none" cap="none" strike="noStrike">
                <a:solidFill>
                  <a:srgbClr val="0D1B2A"/>
                </a:solidFill>
                <a:latin typeface="Calibri"/>
                <a:ea typeface="Calibri"/>
                <a:cs typeface="Calibri"/>
                <a:sym typeface="Calibri"/>
              </a:rPr>
              <a:t>AI</a:t>
            </a:r>
            <a:endParaRPr b="0" i="0" sz="700" u="none" cap="none" strike="noStrike">
              <a:solidFill>
                <a:schemeClr val="dk1"/>
              </a:solidFill>
              <a:latin typeface="Calibri"/>
              <a:ea typeface="Calibri"/>
              <a:cs typeface="Calibri"/>
              <a:sym typeface="Calibri"/>
            </a:endParaRPr>
          </a:p>
        </p:txBody>
      </p:sp>
      <p:sp>
        <p:nvSpPr>
          <p:cNvPr id="291" name="Google Shape;291;p10"/>
          <p:cNvSpPr/>
          <p:nvPr/>
        </p:nvSpPr>
        <p:spPr>
          <a:xfrm>
            <a:off x="914400" y="3529584"/>
            <a:ext cx="7863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50"/>
              <a:buFont typeface="Calibri"/>
              <a:buNone/>
            </a:pPr>
            <a:r>
              <a:rPr b="0" i="0" lang="en-US" sz="850" u="none" cap="none" strike="noStrike">
                <a:solidFill>
                  <a:srgbClr val="8899AA"/>
                </a:solidFill>
                <a:latin typeface="Calibri"/>
                <a:ea typeface="Calibri"/>
                <a:cs typeface="Calibri"/>
                <a:sym typeface="Calibri"/>
              </a:rPr>
              <a:t>The AI buildout is offsetting the typical macro shock drag on growth. Tech capex from hyperscalers is creating a growth buffer that isn't present in most historical oil shock comparisons.</a:t>
            </a:r>
            <a:endParaRPr b="0" i="0" sz="850" u="none" cap="none" strike="noStrike">
              <a:solidFill>
                <a:schemeClr val="dk1"/>
              </a:solidFill>
              <a:latin typeface="Calibri"/>
              <a:ea typeface="Calibri"/>
              <a:cs typeface="Calibri"/>
              <a:sym typeface="Calibri"/>
            </a:endParaRPr>
          </a:p>
        </p:txBody>
      </p:sp>
      <p:sp>
        <p:nvSpPr>
          <p:cNvPr id="292" name="Google Shape;292;p10"/>
          <p:cNvSpPr/>
          <p:nvPr/>
        </p:nvSpPr>
        <p:spPr>
          <a:xfrm>
            <a:off x="365760" y="3995928"/>
            <a:ext cx="457200" cy="256032"/>
          </a:xfrm>
          <a:prstGeom prst="rect">
            <a:avLst/>
          </a:prstGeom>
          <a:solidFill>
            <a:srgbClr val="F5A623"/>
          </a:solidFill>
          <a:ln cap="flat" cmpd="sng" w="1270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
          <p:cNvSpPr/>
          <p:nvPr/>
        </p:nvSpPr>
        <p:spPr>
          <a:xfrm>
            <a:off x="384048" y="4005072"/>
            <a:ext cx="420624"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700"/>
              <a:buFont typeface="Calibri"/>
              <a:buNone/>
            </a:pPr>
            <a:r>
              <a:rPr b="1" i="0" lang="en-US" sz="700" u="none" cap="none" strike="noStrike">
                <a:solidFill>
                  <a:srgbClr val="0D1B2A"/>
                </a:solidFill>
                <a:latin typeface="Calibri"/>
                <a:ea typeface="Calibri"/>
                <a:cs typeface="Calibri"/>
                <a:sym typeface="Calibri"/>
              </a:rPr>
              <a:t>OIL</a:t>
            </a:r>
            <a:endParaRPr b="0" i="0" sz="700" u="none" cap="none" strike="noStrike">
              <a:solidFill>
                <a:schemeClr val="dk1"/>
              </a:solidFill>
              <a:latin typeface="Calibri"/>
              <a:ea typeface="Calibri"/>
              <a:cs typeface="Calibri"/>
              <a:sym typeface="Calibri"/>
            </a:endParaRPr>
          </a:p>
        </p:txBody>
      </p:sp>
      <p:sp>
        <p:nvSpPr>
          <p:cNvPr id="294" name="Google Shape;294;p10"/>
          <p:cNvSpPr/>
          <p:nvPr/>
        </p:nvSpPr>
        <p:spPr>
          <a:xfrm>
            <a:off x="914400" y="4005072"/>
            <a:ext cx="7863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50"/>
              <a:buFont typeface="Calibri"/>
              <a:buNone/>
            </a:pPr>
            <a:r>
              <a:rPr b="0" i="0" lang="en-US" sz="850" u="none" cap="none" strike="noStrike">
                <a:solidFill>
                  <a:srgbClr val="8899AA"/>
                </a:solidFill>
                <a:latin typeface="Calibri"/>
                <a:ea typeface="Calibri"/>
                <a:cs typeface="Calibri"/>
                <a:sym typeface="Calibri"/>
              </a:rPr>
              <a:t>Energy markets are still pricing eventual reopening of the Strait — that's why equities haven't fully rolled over. The market is discounting resolution.</a:t>
            </a:r>
            <a:endParaRPr b="0" i="0" sz="850" u="none" cap="none" strike="noStrike">
              <a:solidFill>
                <a:schemeClr val="dk1"/>
              </a:solidFill>
              <a:latin typeface="Calibri"/>
              <a:ea typeface="Calibri"/>
              <a:cs typeface="Calibri"/>
              <a:sym typeface="Calibri"/>
            </a:endParaRPr>
          </a:p>
        </p:txBody>
      </p:sp>
      <p:sp>
        <p:nvSpPr>
          <p:cNvPr id="295" name="Google Shape;295;p10"/>
          <p:cNvSpPr/>
          <p:nvPr/>
        </p:nvSpPr>
        <p:spPr>
          <a:xfrm>
            <a:off x="365760" y="4471416"/>
            <a:ext cx="457200" cy="256032"/>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0"/>
          <p:cNvSpPr/>
          <p:nvPr/>
        </p:nvSpPr>
        <p:spPr>
          <a:xfrm>
            <a:off x="384048" y="4480560"/>
            <a:ext cx="420624"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700"/>
              <a:buFont typeface="Calibri"/>
              <a:buNone/>
            </a:pPr>
            <a:r>
              <a:rPr b="1" i="0" lang="en-US" sz="700" u="none" cap="none" strike="noStrike">
                <a:solidFill>
                  <a:srgbClr val="0D1B2A"/>
                </a:solidFill>
                <a:latin typeface="Calibri"/>
                <a:ea typeface="Calibri"/>
                <a:cs typeface="Calibri"/>
                <a:sym typeface="Calibri"/>
              </a:rPr>
              <a:t>RISK</a:t>
            </a:r>
            <a:endParaRPr b="0" i="0" sz="700" u="none" cap="none" strike="noStrike">
              <a:solidFill>
                <a:schemeClr val="dk1"/>
              </a:solidFill>
              <a:latin typeface="Calibri"/>
              <a:ea typeface="Calibri"/>
              <a:cs typeface="Calibri"/>
              <a:sym typeface="Calibri"/>
            </a:endParaRPr>
          </a:p>
        </p:txBody>
      </p:sp>
      <p:sp>
        <p:nvSpPr>
          <p:cNvPr id="297" name="Google Shape;297;p10"/>
          <p:cNvSpPr/>
          <p:nvPr/>
        </p:nvSpPr>
        <p:spPr>
          <a:xfrm>
            <a:off x="914400" y="4480560"/>
            <a:ext cx="786384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50"/>
              <a:buFont typeface="Calibri"/>
              <a:buNone/>
            </a:pPr>
            <a:r>
              <a:rPr b="0" i="0" lang="en-US" sz="850" u="none" cap="none" strike="noStrike">
                <a:solidFill>
                  <a:srgbClr val="8899AA"/>
                </a:solidFill>
                <a:latin typeface="Calibri"/>
                <a:ea typeface="Calibri"/>
                <a:cs typeface="Calibri"/>
                <a:sym typeface="Calibri"/>
              </a:rPr>
              <a:t>If Hormuz closure persists: combined effect of higher inflation + rising capital demand could push yields high enough to weigh on valuations and challenge the AI buildout thesis.</a:t>
            </a:r>
            <a:endParaRPr b="0" i="0" sz="850" u="none" cap="none" strike="noStrike">
              <a:solidFill>
                <a:schemeClr val="dk1"/>
              </a:solidFill>
              <a:latin typeface="Calibri"/>
              <a:ea typeface="Calibri"/>
              <a:cs typeface="Calibri"/>
              <a:sym typeface="Calibri"/>
            </a:endParaRPr>
          </a:p>
        </p:txBody>
      </p:sp>
      <p:sp>
        <p:nvSpPr>
          <p:cNvPr id="298" name="Google Shape;298;p10"/>
          <p:cNvSpPr/>
          <p:nvPr/>
        </p:nvSpPr>
        <p:spPr>
          <a:xfrm>
            <a:off x="365760" y="4846320"/>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C6E"/>
              </a:buClr>
              <a:buSzPts val="700"/>
              <a:buFont typeface="Calibri"/>
              <a:buNone/>
            </a:pPr>
            <a:r>
              <a:rPr b="0" i="0" lang="en-US" sz="700" u="none" cap="none" strike="noStrike">
                <a:solidFill>
                  <a:srgbClr val="4A5C6E"/>
                </a:solidFill>
                <a:latin typeface="Calibri"/>
                <a:ea typeface="Calibri"/>
                <a:cs typeface="Calibri"/>
                <a:sym typeface="Calibri"/>
              </a:rPr>
              <a:t>Decentralized Masters  |  Tyler  |  May 18, 2026  |  Educational only. Not financial advice.</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03" name="Shape 303"/>
        <p:cNvGrpSpPr/>
        <p:nvPr/>
      </p:nvGrpSpPr>
      <p:grpSpPr>
        <a:xfrm>
          <a:off x="0" y="0"/>
          <a:ext cx="0" cy="0"/>
          <a:chOff x="0" y="0"/>
          <a:chExt cx="0" cy="0"/>
        </a:xfrm>
      </p:grpSpPr>
      <p:sp>
        <p:nvSpPr>
          <p:cNvPr id="304" name="Google Shape;304;p11"/>
          <p:cNvSpPr/>
          <p:nvPr/>
        </p:nvSpPr>
        <p:spPr>
          <a:xfrm>
            <a:off x="365760" y="164592"/>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750"/>
              <a:buFont typeface="Calibri"/>
              <a:buNone/>
            </a:pPr>
            <a:r>
              <a:rPr b="1" i="0" lang="en-US" sz="750" u="none" cap="none" strike="noStrike">
                <a:solidFill>
                  <a:srgbClr val="C8A96E"/>
                </a:solidFill>
                <a:latin typeface="Calibri"/>
                <a:ea typeface="Calibri"/>
                <a:cs typeface="Calibri"/>
                <a:sym typeface="Calibri"/>
              </a:rPr>
              <a:t>LOOKING AHEAD</a:t>
            </a:r>
            <a:endParaRPr b="0" i="0" sz="750" u="none" cap="none" strike="noStrike">
              <a:solidFill>
                <a:schemeClr val="dk1"/>
              </a:solidFill>
              <a:latin typeface="Calibri"/>
              <a:ea typeface="Calibri"/>
              <a:cs typeface="Calibri"/>
              <a:sym typeface="Calibri"/>
            </a:endParaRPr>
          </a:p>
        </p:txBody>
      </p:sp>
      <p:sp>
        <p:nvSpPr>
          <p:cNvPr id="305" name="Google Shape;305;p11"/>
          <p:cNvSpPr/>
          <p:nvPr/>
        </p:nvSpPr>
        <p:spPr>
          <a:xfrm>
            <a:off x="365760" y="402336"/>
            <a:ext cx="7315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Key Events — May 18-22, 2026</a:t>
            </a:r>
            <a:endParaRPr b="0" i="0" sz="2600" u="none" cap="none" strike="noStrike">
              <a:solidFill>
                <a:schemeClr val="dk1"/>
              </a:solidFill>
              <a:latin typeface="Calibri"/>
              <a:ea typeface="Calibri"/>
              <a:cs typeface="Calibri"/>
              <a:sym typeface="Calibri"/>
            </a:endParaRPr>
          </a:p>
        </p:txBody>
      </p:sp>
      <p:sp>
        <p:nvSpPr>
          <p:cNvPr id="306" name="Google Shape;306;p11"/>
          <p:cNvSpPr/>
          <p:nvPr/>
        </p:nvSpPr>
        <p:spPr>
          <a:xfrm>
            <a:off x="8138160" y="73152"/>
            <a:ext cx="475488" cy="475488"/>
          </a:xfrm>
          <a:prstGeom prst="ellipse">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7" name="Google Shape;307;p11"/>
          <p:cNvPicPr preferRelativeResize="0"/>
          <p:nvPr/>
        </p:nvPicPr>
        <p:blipFill rotWithShape="1">
          <a:blip r:embed="rId3">
            <a:alphaModFix/>
          </a:blip>
          <a:srcRect b="0" l="0" r="0" t="0"/>
          <a:stretch/>
        </p:blipFill>
        <p:spPr>
          <a:xfrm>
            <a:off x="8193024" y="128016"/>
            <a:ext cx="365760" cy="365760"/>
          </a:xfrm>
          <a:prstGeom prst="rect">
            <a:avLst/>
          </a:prstGeom>
          <a:noFill/>
          <a:ln>
            <a:noFill/>
          </a:ln>
        </p:spPr>
      </p:pic>
      <p:sp>
        <p:nvSpPr>
          <p:cNvPr id="308" name="Google Shape;308;p11"/>
          <p:cNvSpPr/>
          <p:nvPr/>
        </p:nvSpPr>
        <p:spPr>
          <a:xfrm>
            <a:off x="365760" y="1115568"/>
            <a:ext cx="4251960" cy="10972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365760" y="1115568"/>
            <a:ext cx="685800" cy="109728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384048" y="1435608"/>
            <a:ext cx="649224"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800"/>
              <a:buFont typeface="Calibri"/>
              <a:buNone/>
            </a:pPr>
            <a:r>
              <a:rPr b="1" i="0" lang="en-US" sz="800" u="none" cap="none" strike="noStrike">
                <a:solidFill>
                  <a:srgbClr val="0D1B2A"/>
                </a:solidFill>
                <a:latin typeface="Calibri"/>
                <a:ea typeface="Calibri"/>
                <a:cs typeface="Calibri"/>
                <a:sym typeface="Calibri"/>
              </a:rPr>
              <a:t>TODAY</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D1B2A"/>
              </a:buClr>
              <a:buSzPts val="800"/>
              <a:buFont typeface="Calibri"/>
              <a:buNone/>
            </a:pPr>
            <a:r>
              <a:rPr b="1" i="0" lang="en-US" sz="800" u="none" cap="none" strike="noStrike">
                <a:solidFill>
                  <a:srgbClr val="0D1B2A"/>
                </a:solidFill>
                <a:latin typeface="Calibri"/>
                <a:ea typeface="Calibri"/>
                <a:cs typeface="Calibri"/>
                <a:sym typeface="Calibri"/>
              </a:rPr>
              <a:t>Mon 18</a:t>
            </a:r>
            <a:endParaRPr b="0" i="0" sz="800" u="none" cap="none" strike="noStrike">
              <a:solidFill>
                <a:schemeClr val="dk1"/>
              </a:solidFill>
              <a:latin typeface="Calibri"/>
              <a:ea typeface="Calibri"/>
              <a:cs typeface="Calibri"/>
              <a:sym typeface="Calibri"/>
            </a:endParaRPr>
          </a:p>
        </p:txBody>
      </p:sp>
      <p:sp>
        <p:nvSpPr>
          <p:cNvPr id="311" name="Google Shape;311;p11"/>
          <p:cNvSpPr/>
          <p:nvPr/>
        </p:nvSpPr>
        <p:spPr>
          <a:xfrm>
            <a:off x="3840480" y="1170432"/>
            <a:ext cx="722376"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F6B6B"/>
              </a:buClr>
              <a:buSzPts val="650"/>
              <a:buFont typeface="Calibri"/>
              <a:buNone/>
            </a:pPr>
            <a:r>
              <a:rPr b="1" i="0" lang="en-US" sz="650" u="none" cap="none" strike="noStrike">
                <a:solidFill>
                  <a:srgbClr val="FF6B6B"/>
                </a:solidFill>
                <a:latin typeface="Calibri"/>
                <a:ea typeface="Calibri"/>
                <a:cs typeface="Calibri"/>
                <a:sym typeface="Calibri"/>
              </a:rPr>
              <a:t>HIGH</a:t>
            </a:r>
            <a:endParaRPr b="0" i="0" sz="650" u="none" cap="none" strike="noStrike">
              <a:solidFill>
                <a:schemeClr val="dk1"/>
              </a:solidFill>
              <a:latin typeface="Calibri"/>
              <a:ea typeface="Calibri"/>
              <a:cs typeface="Calibri"/>
              <a:sym typeface="Calibri"/>
            </a:endParaRPr>
          </a:p>
        </p:txBody>
      </p:sp>
      <p:sp>
        <p:nvSpPr>
          <p:cNvPr id="312" name="Google Shape;312;p11"/>
          <p:cNvSpPr/>
          <p:nvPr/>
        </p:nvSpPr>
        <p:spPr>
          <a:xfrm>
            <a:off x="1143000" y="1170432"/>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G7 Finance Ministers Meeting (thru Tue)</a:t>
            </a:r>
            <a:endParaRPr b="0" i="0" sz="900" u="none" cap="none" strike="noStrike">
              <a:solidFill>
                <a:schemeClr val="dk1"/>
              </a:solidFill>
              <a:latin typeface="Calibri"/>
              <a:ea typeface="Calibri"/>
              <a:cs typeface="Calibri"/>
              <a:sym typeface="Calibri"/>
            </a:endParaRPr>
          </a:p>
        </p:txBody>
      </p:sp>
      <p:sp>
        <p:nvSpPr>
          <p:cNvPr id="313" name="Google Shape;313;p11"/>
          <p:cNvSpPr/>
          <p:nvPr/>
        </p:nvSpPr>
        <p:spPr>
          <a:xfrm>
            <a:off x="1143000" y="1463040"/>
            <a:ext cx="33832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Iran, energy, inflation all on the agenda. Any communiqué that softens or escalates the geopolitical posture will move oil immediately.</a:t>
            </a:r>
            <a:endParaRPr b="0" i="0" sz="800" u="none" cap="none" strike="noStrike">
              <a:solidFill>
                <a:schemeClr val="dk1"/>
              </a:solidFill>
              <a:latin typeface="Calibri"/>
              <a:ea typeface="Calibri"/>
              <a:cs typeface="Calibri"/>
              <a:sym typeface="Calibri"/>
            </a:endParaRPr>
          </a:p>
        </p:txBody>
      </p:sp>
      <p:sp>
        <p:nvSpPr>
          <p:cNvPr id="314" name="Google Shape;314;p11"/>
          <p:cNvSpPr/>
          <p:nvPr/>
        </p:nvSpPr>
        <p:spPr>
          <a:xfrm>
            <a:off x="4800600" y="1115568"/>
            <a:ext cx="4251960" cy="10972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4800600" y="1115568"/>
            <a:ext cx="685800" cy="109728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
          <p:cNvSpPr/>
          <p:nvPr/>
        </p:nvSpPr>
        <p:spPr>
          <a:xfrm>
            <a:off x="4818888" y="1435608"/>
            <a:ext cx="649224"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800"/>
              <a:buFont typeface="Calibri"/>
              <a:buNone/>
            </a:pPr>
            <a:r>
              <a:rPr b="1" i="0" lang="en-US" sz="800" u="none" cap="none" strike="noStrike">
                <a:solidFill>
                  <a:srgbClr val="0D1B2A"/>
                </a:solidFill>
                <a:latin typeface="Calibri"/>
                <a:ea typeface="Calibri"/>
                <a:cs typeface="Calibri"/>
                <a:sym typeface="Calibri"/>
              </a:rPr>
              <a:t>Tue 19</a:t>
            </a:r>
            <a:endParaRPr b="0" i="0" sz="800" u="none" cap="none" strike="noStrike">
              <a:solidFill>
                <a:schemeClr val="dk1"/>
              </a:solidFill>
              <a:latin typeface="Calibri"/>
              <a:ea typeface="Calibri"/>
              <a:cs typeface="Calibri"/>
              <a:sym typeface="Calibri"/>
            </a:endParaRPr>
          </a:p>
        </p:txBody>
      </p:sp>
      <p:sp>
        <p:nvSpPr>
          <p:cNvPr id="317" name="Google Shape;317;p11"/>
          <p:cNvSpPr/>
          <p:nvPr/>
        </p:nvSpPr>
        <p:spPr>
          <a:xfrm>
            <a:off x="8275320" y="1170432"/>
            <a:ext cx="722376"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F6B6B"/>
              </a:buClr>
              <a:buSzPts val="650"/>
              <a:buFont typeface="Calibri"/>
              <a:buNone/>
            </a:pPr>
            <a:r>
              <a:rPr b="1" i="0" lang="en-US" sz="650" u="none" cap="none" strike="noStrike">
                <a:solidFill>
                  <a:srgbClr val="FF6B6B"/>
                </a:solidFill>
                <a:latin typeface="Calibri"/>
                <a:ea typeface="Calibri"/>
                <a:cs typeface="Calibri"/>
                <a:sym typeface="Calibri"/>
              </a:rPr>
              <a:t>HIGH</a:t>
            </a:r>
            <a:endParaRPr b="0" i="0" sz="650" u="none" cap="none" strike="noStrike">
              <a:solidFill>
                <a:schemeClr val="dk1"/>
              </a:solidFill>
              <a:latin typeface="Calibri"/>
              <a:ea typeface="Calibri"/>
              <a:cs typeface="Calibri"/>
              <a:sym typeface="Calibri"/>
            </a:endParaRPr>
          </a:p>
        </p:txBody>
      </p:sp>
      <p:sp>
        <p:nvSpPr>
          <p:cNvPr id="318" name="Google Shape;318;p11"/>
          <p:cNvSpPr/>
          <p:nvPr/>
        </p:nvSpPr>
        <p:spPr>
          <a:xfrm>
            <a:off x="5577840" y="1170432"/>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PYTH Unlock — ~37% of Supply (~$95.5M)</a:t>
            </a:r>
            <a:endParaRPr b="0" i="0" sz="900" u="none" cap="none" strike="noStrike">
              <a:solidFill>
                <a:schemeClr val="dk1"/>
              </a:solidFill>
              <a:latin typeface="Calibri"/>
              <a:ea typeface="Calibri"/>
              <a:cs typeface="Calibri"/>
              <a:sym typeface="Calibri"/>
            </a:endParaRPr>
          </a:p>
        </p:txBody>
      </p:sp>
      <p:sp>
        <p:nvSpPr>
          <p:cNvPr id="319" name="Google Shape;319;p11"/>
          <p:cNvSpPr/>
          <p:nvPr/>
        </p:nvSpPr>
        <p:spPr>
          <a:xfrm>
            <a:off x="5577840" y="1463040"/>
            <a:ext cx="33832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Large unlock in an already-weak altcoin market. Also: Google I/O opens. Watch for AI/crypto crossover narratives.</a:t>
            </a:r>
            <a:endParaRPr b="0" i="0" sz="800" u="none" cap="none" strike="noStrike">
              <a:solidFill>
                <a:schemeClr val="dk1"/>
              </a:solidFill>
              <a:latin typeface="Calibri"/>
              <a:ea typeface="Calibri"/>
              <a:cs typeface="Calibri"/>
              <a:sym typeface="Calibri"/>
            </a:endParaRPr>
          </a:p>
        </p:txBody>
      </p:sp>
      <p:sp>
        <p:nvSpPr>
          <p:cNvPr id="320" name="Google Shape;320;p11"/>
          <p:cNvSpPr/>
          <p:nvPr/>
        </p:nvSpPr>
        <p:spPr>
          <a:xfrm>
            <a:off x="365760" y="2368296"/>
            <a:ext cx="4251960" cy="10972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1"/>
          <p:cNvSpPr/>
          <p:nvPr/>
        </p:nvSpPr>
        <p:spPr>
          <a:xfrm>
            <a:off x="365760" y="2368296"/>
            <a:ext cx="685800" cy="109728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1"/>
          <p:cNvSpPr/>
          <p:nvPr/>
        </p:nvSpPr>
        <p:spPr>
          <a:xfrm>
            <a:off x="384048" y="2688336"/>
            <a:ext cx="649224"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800"/>
              <a:buFont typeface="Calibri"/>
              <a:buNone/>
            </a:pPr>
            <a:r>
              <a:rPr b="1" i="0" lang="en-US" sz="800" u="none" cap="none" strike="noStrike">
                <a:solidFill>
                  <a:srgbClr val="0D1B2A"/>
                </a:solidFill>
                <a:latin typeface="Calibri"/>
                <a:ea typeface="Calibri"/>
                <a:cs typeface="Calibri"/>
                <a:sym typeface="Calibri"/>
              </a:rPr>
              <a:t>Wed 20</a:t>
            </a:r>
            <a:endParaRPr b="0" i="0" sz="800" u="none" cap="none" strike="noStrike">
              <a:solidFill>
                <a:schemeClr val="dk1"/>
              </a:solidFill>
              <a:latin typeface="Calibri"/>
              <a:ea typeface="Calibri"/>
              <a:cs typeface="Calibri"/>
              <a:sym typeface="Calibri"/>
            </a:endParaRPr>
          </a:p>
        </p:txBody>
      </p:sp>
      <p:sp>
        <p:nvSpPr>
          <p:cNvPr id="323" name="Google Shape;323;p11"/>
          <p:cNvSpPr/>
          <p:nvPr/>
        </p:nvSpPr>
        <p:spPr>
          <a:xfrm>
            <a:off x="3840480" y="2423160"/>
            <a:ext cx="722376"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F6B6B"/>
              </a:buClr>
              <a:buSzPts val="650"/>
              <a:buFont typeface="Calibri"/>
              <a:buNone/>
            </a:pPr>
            <a:r>
              <a:rPr b="1" i="0" lang="en-US" sz="650" u="none" cap="none" strike="noStrike">
                <a:solidFill>
                  <a:srgbClr val="FF6B6B"/>
                </a:solidFill>
                <a:latin typeface="Calibri"/>
                <a:ea typeface="Calibri"/>
                <a:cs typeface="Calibri"/>
                <a:sym typeface="Calibri"/>
              </a:rPr>
              <a:t>HIGH</a:t>
            </a:r>
            <a:endParaRPr b="0" i="0" sz="650" u="none" cap="none" strike="noStrike">
              <a:solidFill>
                <a:schemeClr val="dk1"/>
              </a:solidFill>
              <a:latin typeface="Calibri"/>
              <a:ea typeface="Calibri"/>
              <a:cs typeface="Calibri"/>
              <a:sym typeface="Calibri"/>
            </a:endParaRPr>
          </a:p>
        </p:txBody>
      </p:sp>
      <p:sp>
        <p:nvSpPr>
          <p:cNvPr id="324" name="Google Shape;324;p11"/>
          <p:cNvSpPr/>
          <p:nvPr/>
        </p:nvSpPr>
        <p:spPr>
          <a:xfrm>
            <a:off x="1143000" y="242316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Nvidia Earnings + FOMC Minutes</a:t>
            </a:r>
            <a:endParaRPr b="0" i="0" sz="900" u="none" cap="none" strike="noStrike">
              <a:solidFill>
                <a:schemeClr val="dk1"/>
              </a:solidFill>
              <a:latin typeface="Calibri"/>
              <a:ea typeface="Calibri"/>
              <a:cs typeface="Calibri"/>
              <a:sym typeface="Calibri"/>
            </a:endParaRPr>
          </a:p>
        </p:txBody>
      </p:sp>
      <p:sp>
        <p:nvSpPr>
          <p:cNvPr id="325" name="Google Shape;325;p11"/>
          <p:cNvSpPr/>
          <p:nvPr/>
        </p:nvSpPr>
        <p:spPr>
          <a:xfrm>
            <a:off x="1143000" y="2715768"/>
            <a:ext cx="33832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Nvidia consensus: $78B rev, +78% YoY, $1.77 EPS. Gross margin is the watch metric. FOMC minutes reveal Powell's final dissent map. Meta stablecoin Senate deadline. ZRO unlock ~$33M.</a:t>
            </a:r>
            <a:endParaRPr b="0" i="0" sz="800" u="none" cap="none" strike="noStrike">
              <a:solidFill>
                <a:schemeClr val="dk1"/>
              </a:solidFill>
              <a:latin typeface="Calibri"/>
              <a:ea typeface="Calibri"/>
              <a:cs typeface="Calibri"/>
              <a:sym typeface="Calibri"/>
            </a:endParaRPr>
          </a:p>
        </p:txBody>
      </p:sp>
      <p:sp>
        <p:nvSpPr>
          <p:cNvPr id="326" name="Google Shape;326;p11"/>
          <p:cNvSpPr/>
          <p:nvPr/>
        </p:nvSpPr>
        <p:spPr>
          <a:xfrm>
            <a:off x="4800600" y="2368296"/>
            <a:ext cx="4251960" cy="10972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1"/>
          <p:cNvSpPr/>
          <p:nvPr/>
        </p:nvSpPr>
        <p:spPr>
          <a:xfrm>
            <a:off x="4800600" y="2368296"/>
            <a:ext cx="685800" cy="1097280"/>
          </a:xfrm>
          <a:prstGeom prst="rect">
            <a:avLst/>
          </a:prstGeom>
          <a:solidFill>
            <a:srgbClr val="F5A623"/>
          </a:solidFill>
          <a:ln cap="flat" cmpd="sng" w="1270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p:nvPr/>
        </p:nvSpPr>
        <p:spPr>
          <a:xfrm>
            <a:off x="4818888" y="2688336"/>
            <a:ext cx="649224"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800"/>
              <a:buFont typeface="Calibri"/>
              <a:buNone/>
            </a:pPr>
            <a:r>
              <a:rPr b="1" i="0" lang="en-US" sz="800" u="none" cap="none" strike="noStrike">
                <a:solidFill>
                  <a:srgbClr val="0D1B2A"/>
                </a:solidFill>
                <a:latin typeface="Calibri"/>
                <a:ea typeface="Calibri"/>
                <a:cs typeface="Calibri"/>
                <a:sym typeface="Calibri"/>
              </a:rPr>
              <a:t>Thu 21</a:t>
            </a:r>
            <a:endParaRPr b="0" i="0" sz="800" u="none" cap="none" strike="noStrike">
              <a:solidFill>
                <a:schemeClr val="dk1"/>
              </a:solidFill>
              <a:latin typeface="Calibri"/>
              <a:ea typeface="Calibri"/>
              <a:cs typeface="Calibri"/>
              <a:sym typeface="Calibri"/>
            </a:endParaRPr>
          </a:p>
        </p:txBody>
      </p:sp>
      <p:sp>
        <p:nvSpPr>
          <p:cNvPr id="329" name="Google Shape;329;p11"/>
          <p:cNvSpPr/>
          <p:nvPr/>
        </p:nvSpPr>
        <p:spPr>
          <a:xfrm>
            <a:off x="8275320" y="2423160"/>
            <a:ext cx="722376"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5A623"/>
              </a:buClr>
              <a:buSzPts val="650"/>
              <a:buFont typeface="Calibri"/>
              <a:buNone/>
            </a:pPr>
            <a:r>
              <a:rPr b="1" i="0" lang="en-US" sz="650" u="none" cap="none" strike="noStrike">
                <a:solidFill>
                  <a:srgbClr val="F5A623"/>
                </a:solidFill>
                <a:latin typeface="Calibri"/>
                <a:ea typeface="Calibri"/>
                <a:cs typeface="Calibri"/>
                <a:sym typeface="Calibri"/>
              </a:rPr>
              <a:t>MED</a:t>
            </a:r>
            <a:endParaRPr b="0" i="0" sz="650" u="none" cap="none" strike="noStrike">
              <a:solidFill>
                <a:schemeClr val="dk1"/>
              </a:solidFill>
              <a:latin typeface="Calibri"/>
              <a:ea typeface="Calibri"/>
              <a:cs typeface="Calibri"/>
              <a:sym typeface="Calibri"/>
            </a:endParaRPr>
          </a:p>
        </p:txBody>
      </p:sp>
      <p:sp>
        <p:nvSpPr>
          <p:cNvPr id="330" name="Google Shape;330;p11"/>
          <p:cNvSpPr/>
          <p:nvPr/>
        </p:nvSpPr>
        <p:spPr>
          <a:xfrm>
            <a:off x="5577840" y="2423160"/>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PMI Data + Jobless Claims + Housing</a:t>
            </a:r>
            <a:endParaRPr b="0" i="0" sz="900" u="none" cap="none" strike="noStrike">
              <a:solidFill>
                <a:schemeClr val="dk1"/>
              </a:solidFill>
              <a:latin typeface="Calibri"/>
              <a:ea typeface="Calibri"/>
              <a:cs typeface="Calibri"/>
              <a:sym typeface="Calibri"/>
            </a:endParaRPr>
          </a:p>
        </p:txBody>
      </p:sp>
      <p:sp>
        <p:nvSpPr>
          <p:cNvPr id="331" name="Google Shape;331;p11"/>
          <p:cNvSpPr/>
          <p:nvPr/>
        </p:nvSpPr>
        <p:spPr>
          <a:xfrm>
            <a:off x="5577840" y="2715768"/>
            <a:ext cx="33832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Manufacturing and services PMI. Initial jobless claims. Housing data. KAITO unlock ~$7.9M.</a:t>
            </a:r>
            <a:endParaRPr b="0" i="0" sz="800" u="none" cap="none" strike="noStrike">
              <a:solidFill>
                <a:schemeClr val="dk1"/>
              </a:solidFill>
              <a:latin typeface="Calibri"/>
              <a:ea typeface="Calibri"/>
              <a:cs typeface="Calibri"/>
              <a:sym typeface="Calibri"/>
            </a:endParaRPr>
          </a:p>
        </p:txBody>
      </p:sp>
      <p:sp>
        <p:nvSpPr>
          <p:cNvPr id="332" name="Google Shape;332;p11"/>
          <p:cNvSpPr/>
          <p:nvPr/>
        </p:nvSpPr>
        <p:spPr>
          <a:xfrm>
            <a:off x="365760" y="3621024"/>
            <a:ext cx="4251960" cy="10972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1"/>
          <p:cNvSpPr/>
          <p:nvPr/>
        </p:nvSpPr>
        <p:spPr>
          <a:xfrm>
            <a:off x="365760" y="3621024"/>
            <a:ext cx="685800" cy="1097280"/>
          </a:xfrm>
          <a:prstGeom prst="rect">
            <a:avLst/>
          </a:prstGeom>
          <a:solidFill>
            <a:srgbClr val="F5A623"/>
          </a:solidFill>
          <a:ln cap="flat" cmpd="sng" w="1270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p:nvPr/>
        </p:nvSpPr>
        <p:spPr>
          <a:xfrm>
            <a:off x="384048" y="3941064"/>
            <a:ext cx="649224"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800"/>
              <a:buFont typeface="Calibri"/>
              <a:buNone/>
            </a:pPr>
            <a:r>
              <a:rPr b="1" i="0" lang="en-US" sz="800" u="none" cap="none" strike="noStrike">
                <a:solidFill>
                  <a:srgbClr val="0D1B2A"/>
                </a:solidFill>
                <a:latin typeface="Calibri"/>
                <a:ea typeface="Calibri"/>
                <a:cs typeface="Calibri"/>
                <a:sym typeface="Calibri"/>
              </a:rPr>
              <a:t>Thu 22</a:t>
            </a:r>
            <a:endParaRPr b="0" i="0" sz="800" u="none" cap="none" strike="noStrike">
              <a:solidFill>
                <a:schemeClr val="dk1"/>
              </a:solidFill>
              <a:latin typeface="Calibri"/>
              <a:ea typeface="Calibri"/>
              <a:cs typeface="Calibri"/>
              <a:sym typeface="Calibri"/>
            </a:endParaRPr>
          </a:p>
        </p:txBody>
      </p:sp>
      <p:sp>
        <p:nvSpPr>
          <p:cNvPr id="335" name="Google Shape;335;p11"/>
          <p:cNvSpPr/>
          <p:nvPr/>
        </p:nvSpPr>
        <p:spPr>
          <a:xfrm>
            <a:off x="3840480" y="3675888"/>
            <a:ext cx="722376"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5A623"/>
              </a:buClr>
              <a:buSzPts val="650"/>
              <a:buFont typeface="Calibri"/>
              <a:buNone/>
            </a:pPr>
            <a:r>
              <a:rPr b="1" i="0" lang="en-US" sz="650" u="none" cap="none" strike="noStrike">
                <a:solidFill>
                  <a:srgbClr val="F5A623"/>
                </a:solidFill>
                <a:latin typeface="Calibri"/>
                <a:ea typeface="Calibri"/>
                <a:cs typeface="Calibri"/>
                <a:sym typeface="Calibri"/>
              </a:rPr>
              <a:t>MED</a:t>
            </a:r>
            <a:endParaRPr b="0" i="0" sz="650" u="none" cap="none" strike="noStrike">
              <a:solidFill>
                <a:schemeClr val="dk1"/>
              </a:solidFill>
              <a:latin typeface="Calibri"/>
              <a:ea typeface="Calibri"/>
              <a:cs typeface="Calibri"/>
              <a:sym typeface="Calibri"/>
            </a:endParaRPr>
          </a:p>
        </p:txBody>
      </p:sp>
      <p:sp>
        <p:nvSpPr>
          <p:cNvPr id="336" name="Google Shape;336;p11"/>
          <p:cNvSpPr/>
          <p:nvPr/>
        </p:nvSpPr>
        <p:spPr>
          <a:xfrm>
            <a:off x="1143000" y="3675888"/>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Japan April CPI</a:t>
            </a:r>
            <a:endParaRPr b="0" i="0" sz="900" u="none" cap="none" strike="noStrike">
              <a:solidFill>
                <a:schemeClr val="dk1"/>
              </a:solidFill>
              <a:latin typeface="Calibri"/>
              <a:ea typeface="Calibri"/>
              <a:cs typeface="Calibri"/>
              <a:sym typeface="Calibri"/>
            </a:endParaRPr>
          </a:p>
        </p:txBody>
      </p:sp>
      <p:sp>
        <p:nvSpPr>
          <p:cNvPr id="337" name="Google Shape;337;p11"/>
          <p:cNvSpPr/>
          <p:nvPr/>
        </p:nvSpPr>
        <p:spPr>
          <a:xfrm>
            <a:off x="1143000" y="3968496"/>
            <a:ext cx="33832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Key read for Bank of Japan June rate hike expectations. Global rates picture increasingly interconnected.</a:t>
            </a:r>
            <a:endParaRPr b="0" i="0" sz="800" u="none" cap="none" strike="noStrike">
              <a:solidFill>
                <a:schemeClr val="dk1"/>
              </a:solidFill>
              <a:latin typeface="Calibri"/>
              <a:ea typeface="Calibri"/>
              <a:cs typeface="Calibri"/>
              <a:sym typeface="Calibri"/>
            </a:endParaRPr>
          </a:p>
        </p:txBody>
      </p:sp>
      <p:sp>
        <p:nvSpPr>
          <p:cNvPr id="338" name="Google Shape;338;p11"/>
          <p:cNvSpPr/>
          <p:nvPr/>
        </p:nvSpPr>
        <p:spPr>
          <a:xfrm>
            <a:off x="4800600" y="3621024"/>
            <a:ext cx="4251960" cy="10972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1"/>
          <p:cNvSpPr/>
          <p:nvPr/>
        </p:nvSpPr>
        <p:spPr>
          <a:xfrm>
            <a:off x="4800600" y="3621024"/>
            <a:ext cx="685800" cy="1097280"/>
          </a:xfrm>
          <a:prstGeom prst="rect">
            <a:avLst/>
          </a:prstGeom>
          <a:solidFill>
            <a:srgbClr val="4A5C6E"/>
          </a:solidFill>
          <a:ln cap="flat" cmpd="sng" w="12700">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4818888" y="3941064"/>
            <a:ext cx="649224"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800"/>
              <a:buFont typeface="Calibri"/>
              <a:buNone/>
            </a:pPr>
            <a:r>
              <a:rPr b="1" i="0" lang="en-US" sz="800" u="none" cap="none" strike="noStrike">
                <a:solidFill>
                  <a:srgbClr val="0D1B2A"/>
                </a:solidFill>
                <a:latin typeface="Calibri"/>
                <a:ea typeface="Calibri"/>
                <a:cs typeface="Calibri"/>
                <a:sym typeface="Calibri"/>
              </a:rPr>
              <a:t>TBD</a:t>
            </a:r>
            <a:endParaRPr b="0" i="0" sz="800" u="none" cap="none" strike="noStrike">
              <a:solidFill>
                <a:schemeClr val="dk1"/>
              </a:solidFill>
              <a:latin typeface="Calibri"/>
              <a:ea typeface="Calibri"/>
              <a:cs typeface="Calibri"/>
              <a:sym typeface="Calibri"/>
            </a:endParaRPr>
          </a:p>
        </p:txBody>
      </p:sp>
      <p:sp>
        <p:nvSpPr>
          <p:cNvPr id="341" name="Google Shape;341;p11"/>
          <p:cNvSpPr/>
          <p:nvPr/>
        </p:nvSpPr>
        <p:spPr>
          <a:xfrm>
            <a:off x="8275320" y="3675888"/>
            <a:ext cx="722376" cy="1828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4A5C6E"/>
              </a:buClr>
              <a:buSzPts val="650"/>
              <a:buFont typeface="Calibri"/>
              <a:buNone/>
            </a:pPr>
            <a:r>
              <a:rPr b="1" i="0" lang="en-US" sz="650" u="none" cap="none" strike="noStrike">
                <a:solidFill>
                  <a:srgbClr val="4A5C6E"/>
                </a:solidFill>
                <a:latin typeface="Calibri"/>
                <a:ea typeface="Calibri"/>
                <a:cs typeface="Calibri"/>
                <a:sym typeface="Calibri"/>
              </a:rPr>
              <a:t>FLUID</a:t>
            </a:r>
            <a:endParaRPr b="0" i="0" sz="650" u="none" cap="none" strike="noStrike">
              <a:solidFill>
                <a:schemeClr val="dk1"/>
              </a:solidFill>
              <a:latin typeface="Calibri"/>
              <a:ea typeface="Calibri"/>
              <a:cs typeface="Calibri"/>
              <a:sym typeface="Calibri"/>
            </a:endParaRPr>
          </a:p>
        </p:txBody>
      </p:sp>
      <p:sp>
        <p:nvSpPr>
          <p:cNvPr id="342" name="Google Shape;342;p11"/>
          <p:cNvSpPr/>
          <p:nvPr/>
        </p:nvSpPr>
        <p:spPr>
          <a:xfrm>
            <a:off x="5577840" y="3675888"/>
            <a:ext cx="3383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SBR Update + Iran Developments</a:t>
            </a:r>
            <a:endParaRPr b="0" i="0" sz="900" u="none" cap="none" strike="noStrike">
              <a:solidFill>
                <a:schemeClr val="dk1"/>
              </a:solidFill>
              <a:latin typeface="Calibri"/>
              <a:ea typeface="Calibri"/>
              <a:cs typeface="Calibri"/>
              <a:sym typeface="Calibri"/>
            </a:endParaRPr>
          </a:p>
        </p:txBody>
      </p:sp>
      <p:sp>
        <p:nvSpPr>
          <p:cNvPr id="343" name="Google Shape;343;p11"/>
          <p:cNvSpPr/>
          <p:nvPr/>
        </p:nvSpPr>
        <p:spPr>
          <a:xfrm>
            <a:off x="5577840" y="3968496"/>
            <a:ext cx="338328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White House advisor Witt said 'a few weeks' at Consensus Miami May 6. SBR announcement is the near-term upside wildcard. Iran is the ongoing swing variable.</a:t>
            </a:r>
            <a:endParaRPr b="0" i="0" sz="800" u="none" cap="none" strike="noStrike">
              <a:solidFill>
                <a:schemeClr val="dk1"/>
              </a:solidFill>
              <a:latin typeface="Calibri"/>
              <a:ea typeface="Calibri"/>
              <a:cs typeface="Calibri"/>
              <a:sym typeface="Calibri"/>
            </a:endParaRPr>
          </a:p>
        </p:txBody>
      </p:sp>
      <p:sp>
        <p:nvSpPr>
          <p:cNvPr id="344" name="Google Shape;344;p11"/>
          <p:cNvSpPr/>
          <p:nvPr/>
        </p:nvSpPr>
        <p:spPr>
          <a:xfrm>
            <a:off x="365760" y="4846320"/>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C6E"/>
              </a:buClr>
              <a:buSzPts val="700"/>
              <a:buFont typeface="Calibri"/>
              <a:buNone/>
            </a:pPr>
            <a:r>
              <a:rPr b="0" i="0" lang="en-US" sz="700" u="none" cap="none" strike="noStrike">
                <a:solidFill>
                  <a:srgbClr val="4A5C6E"/>
                </a:solidFill>
                <a:latin typeface="Calibri"/>
                <a:ea typeface="Calibri"/>
                <a:cs typeface="Calibri"/>
                <a:sym typeface="Calibri"/>
              </a:rPr>
              <a:t>Decentralized Masters  |  Tyler  |  May 18, 2026  |  Educational only. Not financial advice.</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49" name="Shape 349"/>
        <p:cNvGrpSpPr/>
        <p:nvPr/>
      </p:nvGrpSpPr>
      <p:grpSpPr>
        <a:xfrm>
          <a:off x="0" y="0"/>
          <a:ext cx="0" cy="0"/>
          <a:chOff x="0" y="0"/>
          <a:chExt cx="0" cy="0"/>
        </a:xfrm>
      </p:grpSpPr>
      <p:sp>
        <p:nvSpPr>
          <p:cNvPr id="350" name="Google Shape;350;p12"/>
          <p:cNvSpPr/>
          <p:nvPr/>
        </p:nvSpPr>
        <p:spPr>
          <a:xfrm>
            <a:off x="365760" y="164592"/>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750"/>
              <a:buFont typeface="Calibri"/>
              <a:buNone/>
            </a:pPr>
            <a:r>
              <a:rPr b="1" i="0" lang="en-US" sz="750" u="none" cap="none" strike="noStrike">
                <a:solidFill>
                  <a:srgbClr val="C8A96E"/>
                </a:solidFill>
                <a:latin typeface="Calibri"/>
                <a:ea typeface="Calibri"/>
                <a:cs typeface="Calibri"/>
                <a:sym typeface="Calibri"/>
              </a:rPr>
              <a:t>RISK / REWARD ASSESSMENT</a:t>
            </a:r>
            <a:endParaRPr b="0" i="0" sz="750" u="none" cap="none" strike="noStrike">
              <a:solidFill>
                <a:schemeClr val="dk1"/>
              </a:solidFill>
              <a:latin typeface="Calibri"/>
              <a:ea typeface="Calibri"/>
              <a:cs typeface="Calibri"/>
              <a:sym typeface="Calibri"/>
            </a:endParaRPr>
          </a:p>
        </p:txBody>
      </p:sp>
      <p:sp>
        <p:nvSpPr>
          <p:cNvPr id="351" name="Google Shape;351;p12"/>
          <p:cNvSpPr/>
          <p:nvPr/>
        </p:nvSpPr>
        <p:spPr>
          <a:xfrm>
            <a:off x="365760" y="402336"/>
            <a:ext cx="7315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Risks &amp; Tailwinds</a:t>
            </a:r>
            <a:endParaRPr b="0" i="0" sz="2600" u="none" cap="none" strike="noStrike">
              <a:solidFill>
                <a:schemeClr val="dk1"/>
              </a:solidFill>
              <a:latin typeface="Calibri"/>
              <a:ea typeface="Calibri"/>
              <a:cs typeface="Calibri"/>
              <a:sym typeface="Calibri"/>
            </a:endParaRPr>
          </a:p>
        </p:txBody>
      </p:sp>
      <p:sp>
        <p:nvSpPr>
          <p:cNvPr id="352" name="Google Shape;352;p12"/>
          <p:cNvSpPr/>
          <p:nvPr/>
        </p:nvSpPr>
        <p:spPr>
          <a:xfrm>
            <a:off x="365760" y="1051560"/>
            <a:ext cx="4114800" cy="292608"/>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p:nvPr/>
        </p:nvSpPr>
        <p:spPr>
          <a:xfrm>
            <a:off x="365760" y="1051560"/>
            <a:ext cx="41148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RISKS TO WATCH</a:t>
            </a:r>
            <a:endParaRPr b="0" i="0" sz="1000" u="none" cap="none" strike="noStrike">
              <a:solidFill>
                <a:schemeClr val="dk1"/>
              </a:solidFill>
              <a:latin typeface="Calibri"/>
              <a:ea typeface="Calibri"/>
              <a:cs typeface="Calibri"/>
              <a:sym typeface="Calibri"/>
            </a:endParaRPr>
          </a:p>
        </p:txBody>
      </p:sp>
      <p:sp>
        <p:nvSpPr>
          <p:cNvPr id="354" name="Google Shape;354;p12"/>
          <p:cNvSpPr/>
          <p:nvPr/>
        </p:nvSpPr>
        <p:spPr>
          <a:xfrm>
            <a:off x="4663440" y="1051560"/>
            <a:ext cx="4114800" cy="292608"/>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2"/>
          <p:cNvSpPr/>
          <p:nvPr/>
        </p:nvSpPr>
        <p:spPr>
          <a:xfrm>
            <a:off x="4663440" y="1051560"/>
            <a:ext cx="41148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000"/>
              <a:buFont typeface="Calibri"/>
              <a:buNone/>
            </a:pPr>
            <a:r>
              <a:rPr b="1" i="0" lang="en-US" sz="1000" u="none" cap="none" strike="noStrike">
                <a:solidFill>
                  <a:srgbClr val="0D1B2A"/>
                </a:solidFill>
                <a:latin typeface="Calibri"/>
                <a:ea typeface="Calibri"/>
                <a:cs typeface="Calibri"/>
                <a:sym typeface="Calibri"/>
              </a:rPr>
              <a:t>TAILWINDS / CATALYSTS</a:t>
            </a:r>
            <a:endParaRPr b="0" i="0" sz="1000" u="none" cap="none" strike="noStrike">
              <a:solidFill>
                <a:schemeClr val="dk1"/>
              </a:solidFill>
              <a:latin typeface="Calibri"/>
              <a:ea typeface="Calibri"/>
              <a:cs typeface="Calibri"/>
              <a:sym typeface="Calibri"/>
            </a:endParaRPr>
          </a:p>
        </p:txBody>
      </p:sp>
      <p:sp>
        <p:nvSpPr>
          <p:cNvPr id="356" name="Google Shape;356;p12"/>
          <p:cNvSpPr/>
          <p:nvPr/>
        </p:nvSpPr>
        <p:spPr>
          <a:xfrm>
            <a:off x="365760" y="1426464"/>
            <a:ext cx="4114800" cy="6400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2"/>
          <p:cNvSpPr/>
          <p:nvPr/>
        </p:nvSpPr>
        <p:spPr>
          <a:xfrm>
            <a:off x="365760" y="1426464"/>
            <a:ext cx="36576" cy="64008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2"/>
          <p:cNvSpPr/>
          <p:nvPr/>
        </p:nvSpPr>
        <p:spPr>
          <a:xfrm>
            <a:off x="493776" y="1463040"/>
            <a:ext cx="39136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Iran Re-Escalation</a:t>
            </a:r>
            <a:endParaRPr b="0" i="0" sz="900" u="none" cap="none" strike="noStrike">
              <a:solidFill>
                <a:schemeClr val="dk1"/>
              </a:solidFill>
              <a:latin typeface="Calibri"/>
              <a:ea typeface="Calibri"/>
              <a:cs typeface="Calibri"/>
              <a:sym typeface="Calibri"/>
            </a:endParaRPr>
          </a:p>
        </p:txBody>
      </p:sp>
      <p:sp>
        <p:nvSpPr>
          <p:cNvPr id="359" name="Google Shape;359;p12"/>
          <p:cNvSpPr/>
          <p:nvPr/>
        </p:nvSpPr>
        <p:spPr>
          <a:xfrm>
            <a:off x="493776" y="1700784"/>
            <a:ext cx="3913632"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U.S./Israel military action possible this week. Brent could spike back toward $110-114. Crypto follows oil down in risk-off.</a:t>
            </a:r>
            <a:endParaRPr b="0" i="0" sz="800" u="none" cap="none" strike="noStrike">
              <a:solidFill>
                <a:schemeClr val="dk1"/>
              </a:solidFill>
              <a:latin typeface="Calibri"/>
              <a:ea typeface="Calibri"/>
              <a:cs typeface="Calibri"/>
              <a:sym typeface="Calibri"/>
            </a:endParaRPr>
          </a:p>
        </p:txBody>
      </p:sp>
      <p:sp>
        <p:nvSpPr>
          <p:cNvPr id="360" name="Google Shape;360;p12"/>
          <p:cNvSpPr/>
          <p:nvPr/>
        </p:nvSpPr>
        <p:spPr>
          <a:xfrm>
            <a:off x="365760" y="2139696"/>
            <a:ext cx="4114800" cy="6400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2"/>
          <p:cNvSpPr/>
          <p:nvPr/>
        </p:nvSpPr>
        <p:spPr>
          <a:xfrm>
            <a:off x="365760" y="2139696"/>
            <a:ext cx="36576" cy="64008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2"/>
          <p:cNvSpPr/>
          <p:nvPr/>
        </p:nvSpPr>
        <p:spPr>
          <a:xfrm>
            <a:off x="493776" y="2176272"/>
            <a:ext cx="39136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Rates Pricing In Hikes</a:t>
            </a:r>
            <a:endParaRPr b="0" i="0" sz="900" u="none" cap="none" strike="noStrike">
              <a:solidFill>
                <a:schemeClr val="dk1"/>
              </a:solidFill>
              <a:latin typeface="Calibri"/>
              <a:ea typeface="Calibri"/>
              <a:cs typeface="Calibri"/>
              <a:sym typeface="Calibri"/>
            </a:endParaRPr>
          </a:p>
        </p:txBody>
      </p:sp>
      <p:sp>
        <p:nvSpPr>
          <p:cNvPr id="363" name="Google Shape;363;p12"/>
          <p:cNvSpPr/>
          <p:nvPr/>
        </p:nvSpPr>
        <p:spPr>
          <a:xfrm>
            <a:off x="493776" y="2414016"/>
            <a:ext cx="3913632"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45% probability of a 2026 hike, up from 1% a month ago. 10Y yield at 4.55%. Higher for longer = headwind for all risk assets.</a:t>
            </a:r>
            <a:endParaRPr b="0" i="0" sz="800" u="none" cap="none" strike="noStrike">
              <a:solidFill>
                <a:schemeClr val="dk1"/>
              </a:solidFill>
              <a:latin typeface="Calibri"/>
              <a:ea typeface="Calibri"/>
              <a:cs typeface="Calibri"/>
              <a:sym typeface="Calibri"/>
            </a:endParaRPr>
          </a:p>
        </p:txBody>
      </p:sp>
      <p:sp>
        <p:nvSpPr>
          <p:cNvPr id="364" name="Google Shape;364;p12"/>
          <p:cNvSpPr/>
          <p:nvPr/>
        </p:nvSpPr>
        <p:spPr>
          <a:xfrm>
            <a:off x="365760" y="2852928"/>
            <a:ext cx="4114800" cy="6400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2"/>
          <p:cNvSpPr/>
          <p:nvPr/>
        </p:nvSpPr>
        <p:spPr>
          <a:xfrm>
            <a:off x="365760" y="2852928"/>
            <a:ext cx="36576" cy="64008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2"/>
          <p:cNvSpPr/>
          <p:nvPr/>
        </p:nvSpPr>
        <p:spPr>
          <a:xfrm>
            <a:off x="493776" y="2889504"/>
            <a:ext cx="39136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Warsh Political Pressure</a:t>
            </a:r>
            <a:endParaRPr b="0" i="0" sz="900" u="none" cap="none" strike="noStrike">
              <a:solidFill>
                <a:schemeClr val="dk1"/>
              </a:solidFill>
              <a:latin typeface="Calibri"/>
              <a:ea typeface="Calibri"/>
              <a:cs typeface="Calibri"/>
              <a:sym typeface="Calibri"/>
            </a:endParaRPr>
          </a:p>
        </p:txBody>
      </p:sp>
      <p:sp>
        <p:nvSpPr>
          <p:cNvPr id="367" name="Google Shape;367;p12"/>
          <p:cNvSpPr/>
          <p:nvPr/>
        </p:nvSpPr>
        <p:spPr>
          <a:xfrm>
            <a:off x="493776" y="3127248"/>
            <a:ext cx="3913632"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Premature easing to please Trump = Fed credibility hit before he's even had a meeting. First FOMC June 16-17.</a:t>
            </a:r>
            <a:endParaRPr b="0" i="0" sz="800" u="none" cap="none" strike="noStrike">
              <a:solidFill>
                <a:schemeClr val="dk1"/>
              </a:solidFill>
              <a:latin typeface="Calibri"/>
              <a:ea typeface="Calibri"/>
              <a:cs typeface="Calibri"/>
              <a:sym typeface="Calibri"/>
            </a:endParaRPr>
          </a:p>
        </p:txBody>
      </p:sp>
      <p:sp>
        <p:nvSpPr>
          <p:cNvPr id="368" name="Google Shape;368;p12"/>
          <p:cNvSpPr/>
          <p:nvPr/>
        </p:nvSpPr>
        <p:spPr>
          <a:xfrm>
            <a:off x="365760" y="3566160"/>
            <a:ext cx="4114800" cy="6400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2"/>
          <p:cNvSpPr/>
          <p:nvPr/>
        </p:nvSpPr>
        <p:spPr>
          <a:xfrm>
            <a:off x="365760" y="3566160"/>
            <a:ext cx="36576" cy="64008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2"/>
          <p:cNvSpPr/>
          <p:nvPr/>
        </p:nvSpPr>
        <p:spPr>
          <a:xfrm>
            <a:off x="493776" y="3602736"/>
            <a:ext cx="39136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BTC Sub-$73.7K Close</a:t>
            </a:r>
            <a:endParaRPr b="0" i="0" sz="900" u="none" cap="none" strike="noStrike">
              <a:solidFill>
                <a:schemeClr val="dk1"/>
              </a:solidFill>
              <a:latin typeface="Calibri"/>
              <a:ea typeface="Calibri"/>
              <a:cs typeface="Calibri"/>
              <a:sym typeface="Calibri"/>
            </a:endParaRPr>
          </a:p>
        </p:txBody>
      </p:sp>
      <p:sp>
        <p:nvSpPr>
          <p:cNvPr id="371" name="Google Shape;371;p12"/>
          <p:cNvSpPr/>
          <p:nvPr/>
        </p:nvSpPr>
        <p:spPr>
          <a:xfrm>
            <a:off x="493776" y="3840480"/>
            <a:ext cx="3913632"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A daily close below key support opens a re-test of the mid-$60Ks. Watch daily closes carefully this week.</a:t>
            </a:r>
            <a:endParaRPr b="0" i="0" sz="800" u="none" cap="none" strike="noStrike">
              <a:solidFill>
                <a:schemeClr val="dk1"/>
              </a:solidFill>
              <a:latin typeface="Calibri"/>
              <a:ea typeface="Calibri"/>
              <a:cs typeface="Calibri"/>
              <a:sym typeface="Calibri"/>
            </a:endParaRPr>
          </a:p>
        </p:txBody>
      </p:sp>
      <p:sp>
        <p:nvSpPr>
          <p:cNvPr id="372" name="Google Shape;372;p12"/>
          <p:cNvSpPr/>
          <p:nvPr/>
        </p:nvSpPr>
        <p:spPr>
          <a:xfrm>
            <a:off x="365760" y="4279392"/>
            <a:ext cx="4114800" cy="6400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2"/>
          <p:cNvSpPr/>
          <p:nvPr/>
        </p:nvSpPr>
        <p:spPr>
          <a:xfrm>
            <a:off x="365760" y="4279392"/>
            <a:ext cx="36576" cy="640080"/>
          </a:xfrm>
          <a:prstGeom prst="rect">
            <a:avLst/>
          </a:prstGeom>
          <a:solidFill>
            <a:srgbClr val="FF6B6B"/>
          </a:solidFill>
          <a:ln cap="flat" cmpd="sng" w="12700">
            <a:solidFill>
              <a:srgbClr val="FF6B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2"/>
          <p:cNvSpPr/>
          <p:nvPr/>
        </p:nvSpPr>
        <p:spPr>
          <a:xfrm>
            <a:off x="493776" y="4315968"/>
            <a:ext cx="39136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Token Unlock Pressure</a:t>
            </a:r>
            <a:endParaRPr b="0" i="0" sz="900" u="none" cap="none" strike="noStrike">
              <a:solidFill>
                <a:schemeClr val="dk1"/>
              </a:solidFill>
              <a:latin typeface="Calibri"/>
              <a:ea typeface="Calibri"/>
              <a:cs typeface="Calibri"/>
              <a:sym typeface="Calibri"/>
            </a:endParaRPr>
          </a:p>
        </p:txBody>
      </p:sp>
      <p:sp>
        <p:nvSpPr>
          <p:cNvPr id="375" name="Google Shape;375;p12"/>
          <p:cNvSpPr/>
          <p:nvPr/>
        </p:nvSpPr>
        <p:spPr>
          <a:xfrm>
            <a:off x="493776" y="4553712"/>
            <a:ext cx="3913632"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PYTH ($95.5M), ZRO ($33M), KAITO ($7.9M) all unlock this week. Sells into an already-weak altcoin tape.</a:t>
            </a:r>
            <a:endParaRPr b="0" i="0" sz="800" u="none" cap="none" strike="noStrike">
              <a:solidFill>
                <a:schemeClr val="dk1"/>
              </a:solidFill>
              <a:latin typeface="Calibri"/>
              <a:ea typeface="Calibri"/>
              <a:cs typeface="Calibri"/>
              <a:sym typeface="Calibri"/>
            </a:endParaRPr>
          </a:p>
        </p:txBody>
      </p:sp>
      <p:sp>
        <p:nvSpPr>
          <p:cNvPr id="376" name="Google Shape;376;p12"/>
          <p:cNvSpPr/>
          <p:nvPr/>
        </p:nvSpPr>
        <p:spPr>
          <a:xfrm>
            <a:off x="4663440" y="1426464"/>
            <a:ext cx="4114800" cy="6400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2"/>
          <p:cNvSpPr/>
          <p:nvPr/>
        </p:nvSpPr>
        <p:spPr>
          <a:xfrm>
            <a:off x="4663440" y="1426464"/>
            <a:ext cx="36576" cy="640080"/>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2"/>
          <p:cNvSpPr/>
          <p:nvPr/>
        </p:nvSpPr>
        <p:spPr>
          <a:xfrm>
            <a:off x="4791456" y="1463040"/>
            <a:ext cx="39136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SBR Announcement</a:t>
            </a:r>
            <a:endParaRPr b="0" i="0" sz="900" u="none" cap="none" strike="noStrike">
              <a:solidFill>
                <a:schemeClr val="dk1"/>
              </a:solidFill>
              <a:latin typeface="Calibri"/>
              <a:ea typeface="Calibri"/>
              <a:cs typeface="Calibri"/>
              <a:sym typeface="Calibri"/>
            </a:endParaRPr>
          </a:p>
        </p:txBody>
      </p:sp>
      <p:sp>
        <p:nvSpPr>
          <p:cNvPr id="379" name="Google Shape;379;p12"/>
          <p:cNvSpPr/>
          <p:nvPr/>
        </p:nvSpPr>
        <p:spPr>
          <a:xfrm>
            <a:off x="4791456" y="1700784"/>
            <a:ext cx="3913632"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Witt said 'next few weeks' at Consensus May 6. Concrete positive update = near-term catalyst back toward six figures.</a:t>
            </a:r>
            <a:endParaRPr b="0" i="0" sz="800" u="none" cap="none" strike="noStrike">
              <a:solidFill>
                <a:schemeClr val="dk1"/>
              </a:solidFill>
              <a:latin typeface="Calibri"/>
              <a:ea typeface="Calibri"/>
              <a:cs typeface="Calibri"/>
              <a:sym typeface="Calibri"/>
            </a:endParaRPr>
          </a:p>
        </p:txBody>
      </p:sp>
      <p:sp>
        <p:nvSpPr>
          <p:cNvPr id="380" name="Google Shape;380;p12"/>
          <p:cNvSpPr/>
          <p:nvPr/>
        </p:nvSpPr>
        <p:spPr>
          <a:xfrm>
            <a:off x="4663440" y="2139696"/>
            <a:ext cx="4114800" cy="6400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2"/>
          <p:cNvSpPr/>
          <p:nvPr/>
        </p:nvSpPr>
        <p:spPr>
          <a:xfrm>
            <a:off x="4663440" y="2139696"/>
            <a:ext cx="36576" cy="640080"/>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2"/>
          <p:cNvSpPr/>
          <p:nvPr/>
        </p:nvSpPr>
        <p:spPr>
          <a:xfrm>
            <a:off x="4791456" y="2176272"/>
            <a:ext cx="39136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Nvidia Earnings</a:t>
            </a:r>
            <a:endParaRPr b="0" i="0" sz="900" u="none" cap="none" strike="noStrike">
              <a:solidFill>
                <a:schemeClr val="dk1"/>
              </a:solidFill>
              <a:latin typeface="Calibri"/>
              <a:ea typeface="Calibri"/>
              <a:cs typeface="Calibri"/>
              <a:sym typeface="Calibri"/>
            </a:endParaRPr>
          </a:p>
        </p:txBody>
      </p:sp>
      <p:sp>
        <p:nvSpPr>
          <p:cNvPr id="383" name="Google Shape;383;p12"/>
          <p:cNvSpPr/>
          <p:nvPr/>
        </p:nvSpPr>
        <p:spPr>
          <a:xfrm>
            <a:off x="4791456" y="2414016"/>
            <a:ext cx="3913632"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Wednesday close. If Jensen beats and margins hold, stabilizes the tech bid and lifts risk sentiment broadly.</a:t>
            </a:r>
            <a:endParaRPr b="0" i="0" sz="800" u="none" cap="none" strike="noStrike">
              <a:solidFill>
                <a:schemeClr val="dk1"/>
              </a:solidFill>
              <a:latin typeface="Calibri"/>
              <a:ea typeface="Calibri"/>
              <a:cs typeface="Calibri"/>
              <a:sym typeface="Calibri"/>
            </a:endParaRPr>
          </a:p>
        </p:txBody>
      </p:sp>
      <p:sp>
        <p:nvSpPr>
          <p:cNvPr id="384" name="Google Shape;384;p12"/>
          <p:cNvSpPr/>
          <p:nvPr/>
        </p:nvSpPr>
        <p:spPr>
          <a:xfrm>
            <a:off x="4663440" y="2852928"/>
            <a:ext cx="4114800" cy="6400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2"/>
          <p:cNvSpPr/>
          <p:nvPr/>
        </p:nvSpPr>
        <p:spPr>
          <a:xfrm>
            <a:off x="4663440" y="2852928"/>
            <a:ext cx="36576" cy="640080"/>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2"/>
          <p:cNvSpPr/>
          <p:nvPr/>
        </p:nvSpPr>
        <p:spPr>
          <a:xfrm>
            <a:off x="4791456" y="2889504"/>
            <a:ext cx="39136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Hormuz De-Escalation</a:t>
            </a:r>
            <a:endParaRPr b="0" i="0" sz="900" u="none" cap="none" strike="noStrike">
              <a:solidFill>
                <a:schemeClr val="dk1"/>
              </a:solidFill>
              <a:latin typeface="Calibri"/>
              <a:ea typeface="Calibri"/>
              <a:cs typeface="Calibri"/>
              <a:sym typeface="Calibri"/>
            </a:endParaRPr>
          </a:p>
        </p:txBody>
      </p:sp>
      <p:sp>
        <p:nvSpPr>
          <p:cNvPr id="387" name="Google Shape;387;p12"/>
          <p:cNvSpPr/>
          <p:nvPr/>
        </p:nvSpPr>
        <p:spPr>
          <a:xfrm>
            <a:off x="4791456" y="3127248"/>
            <a:ext cx="3913632"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Any credible peace signal drops oil, gold, and inflation expectations simultaneously. The biggest single catalyst available.</a:t>
            </a:r>
            <a:endParaRPr b="0" i="0" sz="800" u="none" cap="none" strike="noStrike">
              <a:solidFill>
                <a:schemeClr val="dk1"/>
              </a:solidFill>
              <a:latin typeface="Calibri"/>
              <a:ea typeface="Calibri"/>
              <a:cs typeface="Calibri"/>
              <a:sym typeface="Calibri"/>
            </a:endParaRPr>
          </a:p>
        </p:txBody>
      </p:sp>
      <p:sp>
        <p:nvSpPr>
          <p:cNvPr id="388" name="Google Shape;388;p12"/>
          <p:cNvSpPr/>
          <p:nvPr/>
        </p:nvSpPr>
        <p:spPr>
          <a:xfrm>
            <a:off x="4663440" y="3566160"/>
            <a:ext cx="4114800" cy="6400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2"/>
          <p:cNvSpPr/>
          <p:nvPr/>
        </p:nvSpPr>
        <p:spPr>
          <a:xfrm>
            <a:off x="4663440" y="3566160"/>
            <a:ext cx="36576" cy="640080"/>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2"/>
          <p:cNvSpPr/>
          <p:nvPr/>
        </p:nvSpPr>
        <p:spPr>
          <a:xfrm>
            <a:off x="4791456" y="3602736"/>
            <a:ext cx="39136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HYPE / Hyperliquid</a:t>
            </a:r>
            <a:endParaRPr b="0" i="0" sz="900" u="none" cap="none" strike="noStrike">
              <a:solidFill>
                <a:schemeClr val="dk1"/>
              </a:solidFill>
              <a:latin typeface="Calibri"/>
              <a:ea typeface="Calibri"/>
              <a:cs typeface="Calibri"/>
              <a:sym typeface="Calibri"/>
            </a:endParaRPr>
          </a:p>
        </p:txBody>
      </p:sp>
      <p:sp>
        <p:nvSpPr>
          <p:cNvPr id="391" name="Google Shape;391;p12"/>
          <p:cNvSpPr/>
          <p:nvPr/>
        </p:nvSpPr>
        <p:spPr>
          <a:xfrm>
            <a:off x="4791456" y="3840480"/>
            <a:ext cx="3913632"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Genuine product launches (SpaceX perp), real volume, growing ETF ecosystem. Platform-level growth story holding up.</a:t>
            </a:r>
            <a:endParaRPr b="0" i="0" sz="800" u="none" cap="none" strike="noStrike">
              <a:solidFill>
                <a:schemeClr val="dk1"/>
              </a:solidFill>
              <a:latin typeface="Calibri"/>
              <a:ea typeface="Calibri"/>
              <a:cs typeface="Calibri"/>
              <a:sym typeface="Calibri"/>
            </a:endParaRPr>
          </a:p>
        </p:txBody>
      </p:sp>
      <p:sp>
        <p:nvSpPr>
          <p:cNvPr id="392" name="Google Shape;392;p12"/>
          <p:cNvSpPr/>
          <p:nvPr/>
        </p:nvSpPr>
        <p:spPr>
          <a:xfrm>
            <a:off x="4663440" y="4279392"/>
            <a:ext cx="4114800" cy="640080"/>
          </a:xfrm>
          <a:prstGeom prst="rect">
            <a:avLst/>
          </a:prstGeom>
          <a:solidFill>
            <a:srgbClr val="1E2D40"/>
          </a:solidFill>
          <a:ln cap="flat" cmpd="sng" w="9525">
            <a:solidFill>
              <a:srgbClr val="4A5C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2"/>
          <p:cNvSpPr/>
          <p:nvPr/>
        </p:nvSpPr>
        <p:spPr>
          <a:xfrm>
            <a:off x="4663440" y="4279392"/>
            <a:ext cx="36576" cy="640080"/>
          </a:xfrm>
          <a:prstGeom prst="rect">
            <a:avLst/>
          </a:prstGeom>
          <a:solidFill>
            <a:srgbClr val="00BFA5"/>
          </a:solidFill>
          <a:ln cap="flat" cmpd="sng" w="12700">
            <a:solidFill>
              <a:srgbClr val="00B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2"/>
          <p:cNvSpPr/>
          <p:nvPr/>
        </p:nvSpPr>
        <p:spPr>
          <a:xfrm>
            <a:off x="4791456" y="4315968"/>
            <a:ext cx="3913632"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BNB ETF Near-Term</a:t>
            </a:r>
            <a:endParaRPr b="0" i="0" sz="900" u="none" cap="none" strike="noStrike">
              <a:solidFill>
                <a:schemeClr val="dk1"/>
              </a:solidFill>
              <a:latin typeface="Calibri"/>
              <a:ea typeface="Calibri"/>
              <a:cs typeface="Calibri"/>
              <a:sym typeface="Calibri"/>
            </a:endParaRPr>
          </a:p>
        </p:txBody>
      </p:sp>
      <p:sp>
        <p:nvSpPr>
          <p:cNvPr id="395" name="Google Shape;395;p12"/>
          <p:cNvSpPr/>
          <p:nvPr/>
        </p:nvSpPr>
        <p:spPr>
          <a:xfrm>
            <a:off x="4791456" y="4553712"/>
            <a:ext cx="3913632"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800"/>
              <a:buFont typeface="Calibri"/>
              <a:buNone/>
            </a:pPr>
            <a:r>
              <a:rPr b="0" i="0" lang="en-US" sz="800" u="none" cap="none" strike="noStrike">
                <a:solidFill>
                  <a:srgbClr val="8899AA"/>
                </a:solidFill>
                <a:latin typeface="Calibri"/>
                <a:ea typeface="Calibri"/>
                <a:cs typeface="Calibri"/>
                <a:sym typeface="Calibri"/>
              </a:rPr>
              <a:t>VanEck + Grayscale filed revised apps same day last week. Seyffart flagged potential near-term approval. Altcoin ETF pipeline building.</a:t>
            </a:r>
            <a:endParaRPr b="0" i="0" sz="800" u="none" cap="none" strike="noStrike">
              <a:solidFill>
                <a:schemeClr val="dk1"/>
              </a:solidFill>
              <a:latin typeface="Calibri"/>
              <a:ea typeface="Calibri"/>
              <a:cs typeface="Calibri"/>
              <a:sym typeface="Calibri"/>
            </a:endParaRPr>
          </a:p>
        </p:txBody>
      </p:sp>
      <p:sp>
        <p:nvSpPr>
          <p:cNvPr id="396" name="Google Shape;396;p12"/>
          <p:cNvSpPr/>
          <p:nvPr/>
        </p:nvSpPr>
        <p:spPr>
          <a:xfrm>
            <a:off x="365760" y="4846320"/>
            <a:ext cx="84124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C6E"/>
              </a:buClr>
              <a:buSzPts val="700"/>
              <a:buFont typeface="Calibri"/>
              <a:buNone/>
            </a:pPr>
            <a:r>
              <a:rPr b="0" i="0" lang="en-US" sz="700" u="none" cap="none" strike="noStrike">
                <a:solidFill>
                  <a:srgbClr val="4A5C6E"/>
                </a:solidFill>
                <a:latin typeface="Calibri"/>
                <a:ea typeface="Calibri"/>
                <a:cs typeface="Calibri"/>
                <a:sym typeface="Calibri"/>
              </a:rPr>
              <a:t>Decentralized Masters  |  Tyler  |  May 18, 2026  |  Educational only. Not financial advice.</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401" name="Shape 401"/>
        <p:cNvGrpSpPr/>
        <p:nvPr/>
      </p:nvGrpSpPr>
      <p:grpSpPr>
        <a:xfrm>
          <a:off x="0" y="0"/>
          <a:ext cx="0" cy="0"/>
          <a:chOff x="0" y="0"/>
          <a:chExt cx="0" cy="0"/>
        </a:xfrm>
      </p:grpSpPr>
      <p:sp>
        <p:nvSpPr>
          <p:cNvPr id="402" name="Google Shape;402;p13"/>
          <p:cNvSpPr/>
          <p:nvPr/>
        </p:nvSpPr>
        <p:spPr>
          <a:xfrm>
            <a:off x="0" y="0"/>
            <a:ext cx="54864" cy="5143500"/>
          </a:xfrm>
          <a:prstGeom prst="rect">
            <a:avLst/>
          </a:prstGeom>
          <a:solidFill>
            <a:srgbClr val="C8A96E"/>
          </a:solidFill>
          <a:ln cap="flat" cmpd="sng" w="12700">
            <a:solidFill>
              <a:srgbClr val="C8A9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3"/>
          <p:cNvSpPr/>
          <p:nvPr/>
        </p:nvSpPr>
        <p:spPr>
          <a:xfrm>
            <a:off x="365760" y="274320"/>
            <a:ext cx="8412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96E"/>
              </a:buClr>
              <a:buSzPts val="1100"/>
              <a:buFont typeface="Calibri"/>
              <a:buNone/>
            </a:pPr>
            <a:r>
              <a:rPr b="1" i="0" lang="en-US" sz="1100" u="none" cap="none" strike="noStrike">
                <a:solidFill>
                  <a:srgbClr val="C8A96E"/>
                </a:solidFill>
                <a:latin typeface="Calibri"/>
                <a:ea typeface="Calibri"/>
                <a:cs typeface="Calibri"/>
                <a:sym typeface="Calibri"/>
              </a:rPr>
              <a:t>BOTTOM LINE</a:t>
            </a:r>
            <a:endParaRPr b="0" i="0" sz="1100" u="none" cap="none" strike="noStrike">
              <a:solidFill>
                <a:schemeClr val="dk1"/>
              </a:solidFill>
              <a:latin typeface="Calibri"/>
              <a:ea typeface="Calibri"/>
              <a:cs typeface="Calibri"/>
              <a:sym typeface="Calibri"/>
            </a:endParaRPr>
          </a:p>
        </p:txBody>
      </p:sp>
      <p:sp>
        <p:nvSpPr>
          <p:cNvPr id="404" name="Google Shape;404;p13"/>
          <p:cNvSpPr/>
          <p:nvPr/>
        </p:nvSpPr>
        <p:spPr>
          <a:xfrm>
            <a:off x="365760" y="594360"/>
            <a:ext cx="59436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Three Things That</a:t>
            </a:r>
            <a:endParaRPr b="0" i="0" sz="3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Matter This Week</a:t>
            </a:r>
            <a:endParaRPr b="0" i="0" sz="3400" u="none" cap="none" strike="noStrike">
              <a:solidFill>
                <a:schemeClr val="dk1"/>
              </a:solidFill>
              <a:latin typeface="Calibri"/>
              <a:ea typeface="Calibri"/>
              <a:cs typeface="Calibri"/>
              <a:sym typeface="Calibri"/>
            </a:endParaRPr>
          </a:p>
        </p:txBody>
      </p:sp>
      <p:sp>
        <p:nvSpPr>
          <p:cNvPr id="405" name="Google Shape;405;p13"/>
          <p:cNvSpPr/>
          <p:nvPr/>
        </p:nvSpPr>
        <p:spPr>
          <a:xfrm>
            <a:off x="365760" y="1572768"/>
            <a:ext cx="640080" cy="960120"/>
          </a:xfrm>
          <a:prstGeom prst="rect">
            <a:avLst/>
          </a:prstGeom>
          <a:solidFill>
            <a:srgbClr val="C8A96E"/>
          </a:solidFill>
          <a:ln cap="flat" cmpd="sng" w="12700">
            <a:solidFill>
              <a:srgbClr val="C8A9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3"/>
          <p:cNvSpPr/>
          <p:nvPr/>
        </p:nvSpPr>
        <p:spPr>
          <a:xfrm>
            <a:off x="365760" y="1755648"/>
            <a:ext cx="64008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2400"/>
              <a:buFont typeface="Calibri"/>
              <a:buNone/>
            </a:pPr>
            <a:r>
              <a:rPr b="1" i="0" lang="en-US" sz="2400" u="none" cap="none" strike="noStrike">
                <a:solidFill>
                  <a:srgbClr val="0D1B2A"/>
                </a:solidFill>
                <a:latin typeface="Calibri"/>
                <a:ea typeface="Calibri"/>
                <a:cs typeface="Calibri"/>
                <a:sym typeface="Calibri"/>
              </a:rPr>
              <a:t>01</a:t>
            </a:r>
            <a:endParaRPr b="0" i="0" sz="2400" u="none" cap="none" strike="noStrike">
              <a:solidFill>
                <a:schemeClr val="dk1"/>
              </a:solidFill>
              <a:latin typeface="Calibri"/>
              <a:ea typeface="Calibri"/>
              <a:cs typeface="Calibri"/>
              <a:sym typeface="Calibri"/>
            </a:endParaRPr>
          </a:p>
        </p:txBody>
      </p:sp>
      <p:sp>
        <p:nvSpPr>
          <p:cNvPr id="407" name="Google Shape;407;p13"/>
          <p:cNvSpPr/>
          <p:nvPr/>
        </p:nvSpPr>
        <p:spPr>
          <a:xfrm>
            <a:off x="1097280" y="1572768"/>
            <a:ext cx="76809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Iran / Oil — The Swing Variable</a:t>
            </a:r>
            <a:endParaRPr b="0" i="0" sz="1100" u="none" cap="none" strike="noStrike">
              <a:solidFill>
                <a:schemeClr val="dk1"/>
              </a:solidFill>
              <a:latin typeface="Calibri"/>
              <a:ea typeface="Calibri"/>
              <a:cs typeface="Calibri"/>
              <a:sym typeface="Calibri"/>
            </a:endParaRPr>
          </a:p>
        </p:txBody>
      </p:sp>
      <p:sp>
        <p:nvSpPr>
          <p:cNvPr id="408" name="Google Shape;408;p13"/>
          <p:cNvSpPr/>
          <p:nvPr/>
        </p:nvSpPr>
        <p:spPr>
          <a:xfrm>
            <a:off x="1097280" y="1874520"/>
            <a:ext cx="768096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Everything else is downstream of this. If U.S. or Israeli military action resumes, oil spikes, inflation expectations jump, and every risk asset re-prices lower. Watch the G7 communiqué today and overnight geopolitical headlines all week.</a:t>
            </a:r>
            <a:endParaRPr b="0" i="0" sz="900" u="none" cap="none" strike="noStrike">
              <a:solidFill>
                <a:schemeClr val="dk1"/>
              </a:solidFill>
              <a:latin typeface="Calibri"/>
              <a:ea typeface="Calibri"/>
              <a:cs typeface="Calibri"/>
              <a:sym typeface="Calibri"/>
            </a:endParaRPr>
          </a:p>
        </p:txBody>
      </p:sp>
      <p:sp>
        <p:nvSpPr>
          <p:cNvPr id="409" name="Google Shape;409;p13"/>
          <p:cNvSpPr/>
          <p:nvPr/>
        </p:nvSpPr>
        <p:spPr>
          <a:xfrm>
            <a:off x="365760" y="2688336"/>
            <a:ext cx="640080" cy="960120"/>
          </a:xfrm>
          <a:prstGeom prst="rect">
            <a:avLst/>
          </a:prstGeom>
          <a:solidFill>
            <a:srgbClr val="C8A96E"/>
          </a:solidFill>
          <a:ln cap="flat" cmpd="sng" w="12700">
            <a:solidFill>
              <a:srgbClr val="C8A9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3"/>
          <p:cNvSpPr/>
          <p:nvPr/>
        </p:nvSpPr>
        <p:spPr>
          <a:xfrm>
            <a:off x="365760" y="2871216"/>
            <a:ext cx="64008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2400"/>
              <a:buFont typeface="Calibri"/>
              <a:buNone/>
            </a:pPr>
            <a:r>
              <a:rPr b="1" i="0" lang="en-US" sz="2400" u="none" cap="none" strike="noStrike">
                <a:solidFill>
                  <a:srgbClr val="0D1B2A"/>
                </a:solidFill>
                <a:latin typeface="Calibri"/>
                <a:ea typeface="Calibri"/>
                <a:cs typeface="Calibri"/>
                <a:sym typeface="Calibri"/>
              </a:rPr>
              <a:t>02</a:t>
            </a:r>
            <a:endParaRPr b="0" i="0" sz="2400" u="none" cap="none" strike="noStrike">
              <a:solidFill>
                <a:schemeClr val="dk1"/>
              </a:solidFill>
              <a:latin typeface="Calibri"/>
              <a:ea typeface="Calibri"/>
              <a:cs typeface="Calibri"/>
              <a:sym typeface="Calibri"/>
            </a:endParaRPr>
          </a:p>
        </p:txBody>
      </p:sp>
      <p:sp>
        <p:nvSpPr>
          <p:cNvPr id="411" name="Google Shape;411;p13"/>
          <p:cNvSpPr/>
          <p:nvPr/>
        </p:nvSpPr>
        <p:spPr>
          <a:xfrm>
            <a:off x="1097280" y="2688336"/>
            <a:ext cx="76809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FOMC Minutes + Nvidia — Wednesday Is the Pivot</a:t>
            </a:r>
            <a:endParaRPr b="0" i="0" sz="1100" u="none" cap="none" strike="noStrike">
              <a:solidFill>
                <a:schemeClr val="dk1"/>
              </a:solidFill>
              <a:latin typeface="Calibri"/>
              <a:ea typeface="Calibri"/>
              <a:cs typeface="Calibri"/>
              <a:sym typeface="Calibri"/>
            </a:endParaRPr>
          </a:p>
        </p:txBody>
      </p:sp>
      <p:sp>
        <p:nvSpPr>
          <p:cNvPr id="412" name="Google Shape;412;p13"/>
          <p:cNvSpPr/>
          <p:nvPr/>
        </p:nvSpPr>
        <p:spPr>
          <a:xfrm>
            <a:off x="1097280" y="2990088"/>
            <a:ext cx="768096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Powell's final meeting minutes tell you how hawkish the committee actually was. Nvidia tells you whether the AI earnings story is intact. Together, they'll set the market tone for the next two weeks. Hot minutes + Nvidia beat = confusing signal. Hot minutes + miss = another leg down.</a:t>
            </a:r>
            <a:endParaRPr b="0" i="0" sz="900" u="none" cap="none" strike="noStrike">
              <a:solidFill>
                <a:schemeClr val="dk1"/>
              </a:solidFill>
              <a:latin typeface="Calibri"/>
              <a:ea typeface="Calibri"/>
              <a:cs typeface="Calibri"/>
              <a:sym typeface="Calibri"/>
            </a:endParaRPr>
          </a:p>
        </p:txBody>
      </p:sp>
      <p:sp>
        <p:nvSpPr>
          <p:cNvPr id="413" name="Google Shape;413;p13"/>
          <p:cNvSpPr/>
          <p:nvPr/>
        </p:nvSpPr>
        <p:spPr>
          <a:xfrm>
            <a:off x="365760" y="3803904"/>
            <a:ext cx="640080" cy="960120"/>
          </a:xfrm>
          <a:prstGeom prst="rect">
            <a:avLst/>
          </a:prstGeom>
          <a:solidFill>
            <a:srgbClr val="C8A96E"/>
          </a:solidFill>
          <a:ln cap="flat" cmpd="sng" w="12700">
            <a:solidFill>
              <a:srgbClr val="C8A9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3"/>
          <p:cNvSpPr/>
          <p:nvPr/>
        </p:nvSpPr>
        <p:spPr>
          <a:xfrm>
            <a:off x="365760" y="3986784"/>
            <a:ext cx="64008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2400"/>
              <a:buFont typeface="Calibri"/>
              <a:buNone/>
            </a:pPr>
            <a:r>
              <a:rPr b="1" i="0" lang="en-US" sz="2400" u="none" cap="none" strike="noStrike">
                <a:solidFill>
                  <a:srgbClr val="0D1B2A"/>
                </a:solidFill>
                <a:latin typeface="Calibri"/>
                <a:ea typeface="Calibri"/>
                <a:cs typeface="Calibri"/>
                <a:sym typeface="Calibri"/>
              </a:rPr>
              <a:t>03</a:t>
            </a:r>
            <a:endParaRPr b="0" i="0" sz="2400" u="none" cap="none" strike="noStrike">
              <a:solidFill>
                <a:schemeClr val="dk1"/>
              </a:solidFill>
              <a:latin typeface="Calibri"/>
              <a:ea typeface="Calibri"/>
              <a:cs typeface="Calibri"/>
              <a:sym typeface="Calibri"/>
            </a:endParaRPr>
          </a:p>
        </p:txBody>
      </p:sp>
      <p:sp>
        <p:nvSpPr>
          <p:cNvPr id="415" name="Google Shape;415;p13"/>
          <p:cNvSpPr/>
          <p:nvPr/>
        </p:nvSpPr>
        <p:spPr>
          <a:xfrm>
            <a:off x="1097280" y="3803904"/>
            <a:ext cx="76809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Does BTC Hold $73.7K If We Continue Lower?</a:t>
            </a:r>
            <a:endParaRPr b="0" i="0" sz="1100" u="none" cap="none" strike="noStrike">
              <a:solidFill>
                <a:schemeClr val="dk1"/>
              </a:solidFill>
              <a:latin typeface="Calibri"/>
              <a:ea typeface="Calibri"/>
              <a:cs typeface="Calibri"/>
              <a:sym typeface="Calibri"/>
            </a:endParaRPr>
          </a:p>
        </p:txBody>
      </p:sp>
      <p:sp>
        <p:nvSpPr>
          <p:cNvPr id="416" name="Google Shape;416;p13"/>
          <p:cNvSpPr/>
          <p:nvPr/>
        </p:nvSpPr>
        <p:spPr>
          <a:xfrm>
            <a:off x="1097280" y="4105656"/>
            <a:ext cx="768096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900"/>
              <a:buFont typeface="Calibri"/>
              <a:buNone/>
            </a:pPr>
            <a:r>
              <a:rPr b="0" i="0" lang="en-US" sz="900" u="none" cap="none" strike="noStrike">
                <a:solidFill>
                  <a:srgbClr val="8899AA"/>
                </a:solidFill>
                <a:latin typeface="Calibri"/>
                <a:ea typeface="Calibri"/>
                <a:cs typeface="Calibri"/>
                <a:sym typeface="Calibri"/>
              </a:rPr>
              <a:t>The higher-timeframe structure is intact right now but the macro environment is hostile. If Iran escalates and yields push higher, $73.7K becomes the line in the sand. Hold it = macro-driven correction. Lose it = structure breaks and the conversation changes.</a:t>
            </a:r>
            <a:endParaRPr b="0" i="0" sz="900" u="none" cap="none" strike="noStrike">
              <a:solidFill>
                <a:schemeClr val="dk1"/>
              </a:solidFill>
              <a:latin typeface="Calibri"/>
              <a:ea typeface="Calibri"/>
              <a:cs typeface="Calibri"/>
              <a:sym typeface="Calibri"/>
            </a:endParaRPr>
          </a:p>
        </p:txBody>
      </p:sp>
      <p:sp>
        <p:nvSpPr>
          <p:cNvPr id="417" name="Google Shape;417;p13"/>
          <p:cNvSpPr/>
          <p:nvPr/>
        </p:nvSpPr>
        <p:spPr>
          <a:xfrm>
            <a:off x="365760" y="4892040"/>
            <a:ext cx="841248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C6E"/>
              </a:buClr>
              <a:buSzPts val="700"/>
              <a:buFont typeface="Calibri"/>
              <a:buNone/>
            </a:pPr>
            <a:r>
              <a:rPr b="0" i="0" lang="en-US" sz="700" u="none" cap="none" strike="noStrike">
                <a:solidFill>
                  <a:srgbClr val="4A5C6E"/>
                </a:solidFill>
                <a:latin typeface="Calibri"/>
                <a:ea typeface="Calibri"/>
                <a:cs typeface="Calibri"/>
                <a:sym typeface="Calibri"/>
              </a:rPr>
              <a:t>Decentralized Masters  |  Tyler  |  May 18, 2026  |  Educational only. Not financial advice.</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