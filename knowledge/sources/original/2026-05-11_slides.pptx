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Inflows ($M)</c:v>
                </c:pt>
              </c:strCache>
            </c:strRef>
          </c:tx>
          <c:spPr>
            <a:solidFill>
              <a:srgbClr val="1A6E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C9D1D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Apr 2</c:v>
                  </c:pt>
                  <c:pt idx="1">
                    <c:v>Apr 10</c:v>
                  </c:pt>
                  <c:pt idx="2">
                    <c:v>Apr 17</c:v>
                  </c:pt>
                  <c:pt idx="3">
                    <c:v>Apr 24</c:v>
                  </c:pt>
                  <c:pt idx="4">
                    <c:v>May 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</c:v>
                </c:pt>
                <c:pt idx="1">
                  <c:v>786</c:v>
                </c:pt>
                <c:pt idx="2">
                  <c:v>996</c:v>
                </c:pt>
                <c:pt idx="3">
                  <c:v>824</c:v>
                </c:pt>
                <c:pt idx="4">
                  <c:v>154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C9D1D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768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768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plotVisOnly val="1"/>
    <c:dispBlanksAs val="span"/>
  </c:chart>
  <c:spPr>
    <a:solidFill>
      <a:srgbClr val="161B22"/>
    </a:solidFill>
    <a:ln w="12700" cap="flat">
      <a:solidFill>
        <a:srgbClr val="161B22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BTC ETF ($M)</c:v>
                </c:pt>
              </c:strCache>
            </c:strRef>
          </c:tx>
          <c:spPr>
            <a:solidFill>
              <a:srgbClr val="F4B9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Apr 10</c:v>
                  </c:pt>
                  <c:pt idx="1">
                    <c:v>Apr 17</c:v>
                  </c:pt>
                  <c:pt idx="2">
                    <c:v>Apr 24</c:v>
                  </c:pt>
                  <c:pt idx="3">
                    <c:v>May 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786</c:v>
                </c:pt>
                <c:pt idx="1">
                  <c:v>996</c:v>
                </c:pt>
                <c:pt idx="2">
                  <c:v>824</c:v>
                </c:pt>
                <c:pt idx="3">
                  <c:v>154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ETH ETF ($M)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Apr 10</c:v>
                  </c:pt>
                  <c:pt idx="1">
                    <c:v>Apr 17</c:v>
                  </c:pt>
                  <c:pt idx="2">
                    <c:v>Apr 24</c:v>
                  </c:pt>
                  <c:pt idx="3">
                    <c:v>May 1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120</c:v>
                </c:pt>
                <c:pt idx="1">
                  <c:v>276</c:v>
                </c:pt>
                <c:pt idx="2">
                  <c:v>50</c:v>
                </c:pt>
                <c:pt idx="3">
                  <c:v>-35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768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768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C9D1D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61B22"/>
    </a:solidFill>
    <a:ln w="12700" cap="flat">
      <a:solidFill>
        <a:srgbClr val="161B22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CPI YoY %</c:v>
                </c:pt>
              </c:strCache>
            </c:strRef>
          </c:tx>
          <c:spPr>
            <a:solidFill>
              <a:srgbClr val="E63946"/>
            </a:solidFill>
            <a:ln w="38100" cap="flat">
              <a:solidFill>
                <a:srgbClr val="E6394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6394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63946"/>
              </a:solidFill>
              <a:ln w="9525" cap="flat">
                <a:solidFill>
                  <a:srgbClr val="E6394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Jan '26</c:v>
                  </c:pt>
                  <c:pt idx="1">
                    <c:v>Feb '26</c:v>
                  </c:pt>
                  <c:pt idx="2">
                    <c:v>Mar '26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2.4</c:v>
                </c:pt>
                <c:pt idx="1">
                  <c:v>2.4</c:v>
                </c:pt>
                <c:pt idx="2">
                  <c:v>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6394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68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68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plotVisOnly val="1"/>
    <c:dispBlanksAs val="span"/>
  </c:chart>
  <c:spPr>
    <a:solidFill>
      <a:srgbClr val="161B22"/>
    </a:solidFill>
    <a:ln w="12700" cap="flat">
      <a:solidFill>
        <a:srgbClr val="161B22"/>
      </a:solidFill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Brent USD/bbl</c:v>
                </c:pt>
              </c:strCache>
            </c:strRef>
          </c:tx>
          <c:spPr>
            <a:solidFill>
              <a:srgbClr val="F4B942"/>
            </a:solidFill>
            <a:ln w="38100" cap="flat">
              <a:solidFill>
                <a:srgbClr val="F4B94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4B942"/>
              </a:solidFill>
              <a:ln w="9525" cap="flat">
                <a:solidFill>
                  <a:srgbClr val="F4B94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Late Feb</c:v>
                  </c:pt>
                  <c:pt idx="1">
                    <c:v>Mid-Mar</c:v>
                  </c:pt>
                  <c:pt idx="2">
                    <c:v>Apr 8
Ceasefire</c:v>
                  </c:pt>
                  <c:pt idx="3">
                    <c:v>Late Apr</c:v>
                  </c:pt>
                  <c:pt idx="4">
                    <c:v>May 5
Peak</c:v>
                  </c:pt>
                  <c:pt idx="5">
                    <c:v>May 9
Close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</c:v>
                </c:pt>
                <c:pt idx="1">
                  <c:v>105</c:v>
                </c:pt>
                <c:pt idx="2">
                  <c:v>98</c:v>
                </c:pt>
                <c:pt idx="3">
                  <c:v>108</c:v>
                </c:pt>
                <c:pt idx="4">
                  <c:v>114</c:v>
                </c:pt>
                <c:pt idx="5">
                  <c:v>96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E768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5"/>
          <c:min val="70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768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plotVisOnly val="1"/>
    <c:dispBlanksAs val="span"/>
  </c:chart>
  <c:spPr>
    <a:solidFill>
      <a:srgbClr val="161B22"/>
    </a:solidFill>
    <a:ln w="12700" cap="flat">
      <a:solidFill>
        <a:srgbClr val="161B22"/>
      </a:solidFill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YTD %</c:v>
                </c:pt>
              </c:strCache>
            </c:strRef>
          </c:tx>
          <c:spPr>
            <a:solidFill>
              <a:srgbClr val="1DB9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C9D1D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S&amp;P 500</c:v>
                  </c:pt>
                  <c:pt idx="1">
                    <c:v>Dow Jones</c:v>
                  </c:pt>
                  <c:pt idx="2">
                    <c:v>Nasdaq</c:v>
                  </c:pt>
                  <c:pt idx="3">
                    <c:v>Russell 2000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5.6</c:v>
                </c:pt>
                <c:pt idx="1">
                  <c:v>3</c:v>
                </c:pt>
                <c:pt idx="2">
                  <c:v>8.1</c:v>
                </c:pt>
                <c:pt idx="3">
                  <c:v>13.3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C9D1D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768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768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plotVisOnly val="1"/>
    <c:dispBlanksAs val="span"/>
  </c:chart>
  <c:spPr>
    <a:solidFill>
      <a:srgbClr val="161B22"/>
    </a:solidFill>
    <a:ln w="12700" cap="flat">
      <a:solidFill>
        <a:srgbClr val="161B22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474720" cy="50794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11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GEMS UNCOVERED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80467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MARKET UPDATE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161288"/>
            <a:ext cx="2286000" cy="292608"/>
          </a:xfrm>
          <a:prstGeom prst="rect">
            <a:avLst/>
          </a:prstGeom>
          <a:solidFill>
            <a:srgbClr val="1A6EB5"/>
          </a:solidFill>
          <a:ln w="12700">
            <a:solidFill>
              <a:srgbClr val="1A6E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612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Monday, May 11, 2026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4320" y="158191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CLOSE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1801368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691640" y="180136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$80,640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2139696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691640" y="2139696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$2,324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247802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691640" y="2478024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$4,713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2816352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 Crude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691640" y="281635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$95.87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315468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691640" y="315468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3493008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10-Yr Yield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691640" y="349300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4.36%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3831336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691640" y="3831336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~7,396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416966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VIX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691640" y="4169664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17.19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4320" y="46634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Tyler | Head of Research, Decentralized Masters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840480" y="68580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</a:t>
            </a:r>
            <a:endParaRPr lang="en-US" sz="7200" dirty="0"/>
          </a:p>
        </p:txBody>
      </p:sp>
      <p:sp>
        <p:nvSpPr>
          <p:cNvPr id="27" name="Text 25"/>
          <p:cNvSpPr/>
          <p:nvPr/>
        </p:nvSpPr>
        <p:spPr>
          <a:xfrm>
            <a:off x="3840480" y="1572768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UPDATE</a:t>
            </a:r>
            <a:endParaRPr lang="en-US" sz="7200" dirty="0"/>
          </a:p>
        </p:txBody>
      </p:sp>
      <p:sp>
        <p:nvSpPr>
          <p:cNvPr id="28" name="Text 26"/>
          <p:cNvSpPr/>
          <p:nvPr/>
        </p:nvSpPr>
        <p:spPr>
          <a:xfrm>
            <a:off x="3840480" y="2633472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breaks $80K  |  Warsh takes the Fed  |  Hormuz talks stall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3840480" y="3291840"/>
            <a:ext cx="2423160" cy="338328"/>
          </a:xfrm>
          <a:prstGeom prst="rect">
            <a:avLst/>
          </a:prstGeom>
          <a:solidFill>
            <a:srgbClr val="1A6EB5"/>
          </a:solidFill>
          <a:ln w="12700">
            <a:solidFill>
              <a:srgbClr val="1A6E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0" y="3291840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&amp; ETH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46520" y="3291840"/>
            <a:ext cx="2423160" cy="33832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3291840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Altcoin Structure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840480" y="3721608"/>
            <a:ext cx="2423160" cy="338328"/>
          </a:xfrm>
          <a:prstGeom prst="rect">
            <a:avLst/>
          </a:prstGeom>
          <a:solidFill>
            <a:srgbClr val="1A6EB5"/>
          </a:solidFill>
          <a:ln w="12700">
            <a:solidFill>
              <a:srgbClr val="1A6E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0" y="3721608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Transition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46520" y="3721608"/>
            <a:ext cx="2423160" cy="33832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3721608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/ Hormuz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840480" y="4151376"/>
            <a:ext cx="2423160" cy="338328"/>
          </a:xfrm>
          <a:prstGeom prst="rect">
            <a:avLst/>
          </a:prstGeom>
          <a:solidFill>
            <a:srgbClr val="1A6EB5"/>
          </a:solidFill>
          <a:ln w="12700">
            <a:solidFill>
              <a:srgbClr val="1A6E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0" y="4151376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Equities &amp; Macro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46520" y="4151376"/>
            <a:ext cx="2423160" cy="33832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46520" y="4151376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Calendar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73152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731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9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BITCOIN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94360" y="2834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May 4–9, 2026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583680" y="82296"/>
            <a:ext cx="2377440" cy="338328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0" y="82296"/>
            <a:ext cx="2377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$80,640 — BREAKOUT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65760" y="62179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BTC ETF — WEEKLY NET INFLOWS ($M)</a:t>
            </a:r>
            <a:endParaRPr lang="en-US" sz="8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274320" y="822960"/>
          <a:ext cx="48463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274320" y="3657600"/>
            <a:ext cx="4846320" cy="402336"/>
          </a:xfrm>
          <a:prstGeom prst="rect">
            <a:avLst/>
          </a:prstGeom>
          <a:solidFill>
            <a:srgbClr val="0F2044"/>
          </a:solidFill>
          <a:ln w="12700">
            <a:solidFill>
              <a:srgbClr val="1A6EB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20040" y="36850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5-Week Cumulative: $2.78B  |  Cycle Peak (Oct '25): $61.2B  |  Gap: –$2.5B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5394960" y="62179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LEVELS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5394960" y="841248"/>
            <a:ext cx="347472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394960" y="841248"/>
            <a:ext cx="64008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559552" y="8961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BREAKOUT PIVOT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5559552" y="10881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$80,600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5559552" y="143560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close above since Q1. Must hold.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5394960" y="1801368"/>
            <a:ext cx="347472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394960" y="1801368"/>
            <a:ext cx="64008" cy="86868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559552" y="18562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TARGET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5559552" y="204825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$85,000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5559552" y="239572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on a clean daily close above pivot.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5394960" y="2761488"/>
            <a:ext cx="347472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394960" y="2761488"/>
            <a:ext cx="64008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559552" y="28163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INVALIDATION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5559552" y="30083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$75,000</a:t>
            </a:r>
            <a:endParaRPr lang="en-US" sz="2200" dirty="0"/>
          </a:p>
        </p:txBody>
      </p:sp>
      <p:sp>
        <p:nvSpPr>
          <p:cNvPr id="27" name="Text 23"/>
          <p:cNvSpPr/>
          <p:nvPr/>
        </p:nvSpPr>
        <p:spPr>
          <a:xfrm>
            <a:off x="5559552" y="335584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+ fade = back to range logic.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5394960" y="3657600"/>
            <a:ext cx="3474720" cy="402336"/>
          </a:xfrm>
          <a:prstGeom prst="rect">
            <a:avLst/>
          </a:prstGeom>
          <a:solidFill>
            <a:srgbClr val="0F2044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486400" y="36850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WATCH: Is the ETF bid accumulation or exit liquidity for short-term holders?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274320" y="496519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Gems Uncovered  |  Tyler, Head of Research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73152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731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ETHEREUM &amp; MARKET STRUCTURE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94360" y="2834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May 4–9, 2026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858000" y="82296"/>
            <a:ext cx="2103120" cy="338328"/>
          </a:xfrm>
          <a:prstGeom prst="rect">
            <a:avLst/>
          </a:prstGeom>
          <a:solidFill>
            <a:srgbClr val="1C243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0" y="82296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ETH: $2,324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62179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BIFURCATION — WEEKLY ETF FLOWS ($M)</a:t>
            </a:r>
            <a:endParaRPr lang="en-US" sz="8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274320" y="822960"/>
          <a:ext cx="484632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274320" y="3456432"/>
            <a:ext cx="155448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74320" y="350215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TVL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274320" y="364845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$68B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274320" y="399592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 + L2 stack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1984248" y="3456432"/>
            <a:ext cx="155448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984248" y="350215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 Staked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1984248" y="364845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~33%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1984248" y="399592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supply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3694176" y="3456432"/>
            <a:ext cx="155448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694176" y="350215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Oct '25 Peak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3694176" y="364845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–50%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3694176" y="399592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drawdown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5394960" y="62179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STRUCTURE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5394960" y="841248"/>
            <a:ext cx="347472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394960" y="841248"/>
            <a:ext cx="64008" cy="86868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559552" y="8961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Dominance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5559552" y="10881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58.5%</a:t>
            </a:r>
            <a:endParaRPr lang="en-US" sz="2200" dirty="0"/>
          </a:p>
        </p:txBody>
      </p:sp>
      <p:sp>
        <p:nvSpPr>
          <p:cNvPr id="27" name="Text 23"/>
          <p:cNvSpPr/>
          <p:nvPr/>
        </p:nvSpPr>
        <p:spPr>
          <a:xfrm>
            <a:off x="5559552" y="143560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Headwind for broad altcoin rallies. Not altseason conditions.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5394960" y="1801368"/>
            <a:ext cx="347472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394960" y="1801368"/>
            <a:ext cx="64008" cy="868680"/>
          </a:xfrm>
          <a:prstGeom prst="rect">
            <a:avLst/>
          </a:prstGeom>
          <a:solidFill>
            <a:srgbClr val="C9D1D9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559552" y="18562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&amp; Greed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5559552" y="204825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D1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46</a:t>
            </a:r>
            <a:endParaRPr lang="en-US" sz="2200" dirty="0"/>
          </a:p>
        </p:txBody>
      </p:sp>
      <p:sp>
        <p:nvSpPr>
          <p:cNvPr id="32" name="Text 28"/>
          <p:cNvSpPr/>
          <p:nvPr/>
        </p:nvSpPr>
        <p:spPr>
          <a:xfrm>
            <a:off x="5559552" y="239572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from 26 (panic) to Fear territory — patient accumulation window.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5394960" y="2761488"/>
            <a:ext cx="347472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5394960" y="2761488"/>
            <a:ext cx="64008" cy="86868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559552" y="28163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Crypto Mkt Cap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5559552" y="30083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$2.81T</a:t>
            </a:r>
            <a:endParaRPr lang="en-US" sz="2200" dirty="0"/>
          </a:p>
        </p:txBody>
      </p:sp>
      <p:sp>
        <p:nvSpPr>
          <p:cNvPr id="37" name="Text 33"/>
          <p:cNvSpPr/>
          <p:nvPr/>
        </p:nvSpPr>
        <p:spPr>
          <a:xfrm>
            <a:off x="5559552" y="335584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Rebounded from Q1 lows. Recovery real but below cycle highs.</a:t>
            </a:r>
            <a:endParaRPr lang="en-US" sz="850" dirty="0"/>
          </a:p>
        </p:txBody>
      </p:sp>
      <p:sp>
        <p:nvSpPr>
          <p:cNvPr id="38" name="Shape 34"/>
          <p:cNvSpPr/>
          <p:nvPr/>
        </p:nvSpPr>
        <p:spPr>
          <a:xfrm>
            <a:off x="5394960" y="3703320"/>
            <a:ext cx="3474720" cy="548640"/>
          </a:xfrm>
          <a:prstGeom prst="rect">
            <a:avLst/>
          </a:prstGeom>
          <a:solidFill>
            <a:srgbClr val="0F204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486400" y="3749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 critical support: $2,300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dom 58.5% + no broad ETF flows = not altseason. Be selective.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274320" y="496519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Gems Uncovered  |  Tyler, Head of Research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73152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731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FED TRANSITION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94360" y="28346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Powell Out — Warsh In — May 15, 2026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583680" y="82296"/>
            <a:ext cx="2377440" cy="3383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0" y="82296"/>
            <a:ext cx="2377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DXY: 97.84 — BEARISH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65760" y="62179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HEADLINE CPI — YEAR OVER YEAR</a:t>
            </a:r>
            <a:endParaRPr lang="en-US" sz="8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274320" y="822960"/>
          <a:ext cx="48463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274320" y="3200400"/>
            <a:ext cx="484632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11480" y="32369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surge driven by energy shock (gas +18.9%). Core CPI held at 2.6%. April CPI drops Tue May 12.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274320" y="3675888"/>
            <a:ext cx="155448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74320" y="372160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PCE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274320" y="387705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3.2%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1984248" y="3675888"/>
            <a:ext cx="155448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984248" y="372160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1984248" y="387705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4.3%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3694176" y="3675888"/>
            <a:ext cx="155448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694176" y="372160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Funds Rate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3694176" y="387705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B9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 HOLD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5394960" y="62179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WARSH CONTEXT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5394960" y="841248"/>
            <a:ext cx="3474720" cy="9875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394960" y="841248"/>
            <a:ext cx="64008" cy="987552"/>
          </a:xfrm>
          <a:prstGeom prst="rect">
            <a:avLst/>
          </a:prstGeom>
          <a:solidFill>
            <a:srgbClr val="1A6EB5"/>
          </a:solidFill>
          <a:ln w="12700">
            <a:solidFill>
              <a:srgbClr val="1A6EB5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559552" y="8961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A6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WARSH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5559552" y="111556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Fed Governor 2006-2011. Trump's pick to succeed Powell. Cleared Senate Banking Committee on party-line vote. Term starts May 15.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5394960" y="1920240"/>
            <a:ext cx="3474720" cy="9875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394960" y="1920240"/>
            <a:ext cx="64008" cy="987552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559552" y="197510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TIGHTROPE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5559552" y="219456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Trump wants cuts. Inflation doesn't support cuts. Cleveland Fed hawks pushing back. Powell staying on as governor through 2028 adds tension.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5394960" y="2999232"/>
            <a:ext cx="3474720" cy="9875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394960" y="2999232"/>
            <a:ext cx="64008" cy="9875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559552" y="305409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FOR CRYPTO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5559552" y="327355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 weakness = hard asset tailwind. Credible dovish pivot lifts BTC + ETH + gold. Premature easing kills Fed credibility — net negative.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274320" y="496519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Gems Uncovered  |  Tyler, Head of Research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73152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731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9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OIL &amp; STRAIT OF HORMUZ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94360" y="283464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dominant inflation input — IEA calls it the largest supply disruption in history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 CRUDE — APPROXIMATE PRICE PATH SINCE CONFLICT START</a:t>
            </a:r>
            <a:endParaRPr lang="en-US" sz="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822960"/>
          <a:ext cx="48463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3319272"/>
            <a:ext cx="155448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74320" y="336499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High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274320" y="351129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$114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1984248" y="3319272"/>
            <a:ext cx="155448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984248" y="336499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Close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984248" y="351129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B9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$95.87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3694176" y="3319272"/>
            <a:ext cx="155448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694176" y="336499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Oil via Hormuz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3694176" y="351129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D1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~20%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5394960" y="62179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HORMUZ TIMELINE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5394960" y="841248"/>
            <a:ext cx="91440" cy="45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577840" y="8595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28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6446520" y="85953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Op. Epic Fury launched. US/Israel strike Iran. Strait closes.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5394960" y="1389888"/>
            <a:ext cx="91440" cy="45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577840" y="140817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4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6446520" y="140817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Iran formally declares Hormuz closed to commercial traffic.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5394960" y="1938528"/>
            <a:ext cx="91440" cy="4572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577840" y="19568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8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446520" y="195681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Ceasefire. Strait partially reopens. Traffic remains disrupted.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5394960" y="2487168"/>
            <a:ext cx="9144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577840" y="25054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4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6446520" y="250545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Trump launches Project Freedom — Navy escorts stranded ships.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5394960" y="3035808"/>
            <a:ext cx="91440" cy="4572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577840" y="305409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6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6446520" y="305409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Freedom paused — Trump cites 'great progress' on talks.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5394960" y="3584448"/>
            <a:ext cx="91440" cy="45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5577840" y="36027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11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6446520" y="360273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Iran rejects US proposal. Ceasefire fragile. Oil rebounds.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274320" y="4096512"/>
            <a:ext cx="8595360" cy="347472"/>
          </a:xfrm>
          <a:prstGeom prst="rect">
            <a:avLst/>
          </a:prstGeom>
          <a:solidFill>
            <a:srgbClr val="0F2044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11480" y="413308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risk: $150-200/bbl if Hormuz stays closed into June. Not the base case — but it's the tail that governs everything.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274320" y="496519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Gems Uncovered  |  Tyler, Head of Research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73152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731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EQUITIES &amp; MACRO SNAPSHOT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94360" y="28346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straight weeks of S&amp;P gains | NFP beat | AI earnings intact | Broad participation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YTD PERFORMANCE</a:t>
            </a:r>
            <a:endParaRPr lang="en-US" sz="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822960"/>
          <a:ext cx="48463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3264408"/>
            <a:ext cx="155448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74320" y="331012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NFP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274320" y="346557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+115K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274320" y="3785616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62K expected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1984248" y="3264408"/>
            <a:ext cx="155448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984248" y="331012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1984248" y="346557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4.3%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984248" y="3785616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3694176" y="3264408"/>
            <a:ext cx="155448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694176" y="331012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EPS Growth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3694176" y="346557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+27.1%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3694176" y="3785616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since Q4 2021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5394960" y="62179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WATCH THIS WEEK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5394960" y="841248"/>
            <a:ext cx="3474720" cy="8961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394960" y="841248"/>
            <a:ext cx="64008" cy="89611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559552" y="8961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CPI — Tue May 12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5559552" y="113385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hit 3.3%. April likely elevated. This print governs Warsh's first moves at the Fed.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5394960" y="1819656"/>
            <a:ext cx="3474720" cy="8961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394960" y="1819656"/>
            <a:ext cx="64008" cy="896112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559552" y="18745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— Thu May 15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5559552" y="211226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 growth slowed to 1.6% in Q1. Weakness here challenges the soft-landing narrative.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5394960" y="2798064"/>
            <a:ext cx="3474720" cy="8961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5394960" y="2798064"/>
            <a:ext cx="64008" cy="89611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559552" y="28529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10-Yr Yield Ceiling: 4.50%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5559552" y="309067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 above this level compresses multiples across equities and crypto simultaneously.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5394960" y="3776472"/>
            <a:ext cx="3474720" cy="8961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5394960" y="3776472"/>
            <a:ext cx="64008" cy="89611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559552" y="383133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DXY Below MAs — Bearish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5559552" y="4069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 below 50 and 200-day MAs. Double-top on daily. Cool CPI = 96.90 target.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274320" y="496519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Gems Uncovered  |  Tyler, Head of Research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73152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RISKS vs TAILWINDS  |  THIS WEEK'S CALENDAR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74320" y="576072"/>
            <a:ext cx="3977640" cy="2743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57607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RISKS TO WATCH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74320" y="93268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April CPI — surge keeps rate cuts off the table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274320" y="131673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Hormuz re-escalation — Iran rejection sends Brent toward $114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274320" y="1700784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Warsh under Trump pressure — premature easing destroys credibility in month one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274320" y="208483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rejection at $80,600 — failure invites re-test of $74-75K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274320" y="24688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10-yr yield above 4.50% — compresses multiples across equities &amp; crypto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361688" y="576072"/>
            <a:ext cx="45720" cy="239572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26280" y="576072"/>
            <a:ext cx="4343400" cy="27432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26280" y="57607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TAILWINDS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26280" y="932688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DXY weakness — dollar below MAs lifts all hard assets globally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526280" y="1316736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ETF bid intact — 5-week streak; institutional floor is real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26280" y="1700784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Hormuz de-escalation — peace signal drops oil, gold, inflation expectations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526280" y="2084832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Equities momentum — 5-week streak, broad participation, AI earnings hold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526280" y="2468880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 CPI print — softer April gives Warsh room to be balanced early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274320" y="3090672"/>
            <a:ext cx="8595360" cy="246888"/>
          </a:xfrm>
          <a:prstGeom prst="rect">
            <a:avLst/>
          </a:prstGeom>
          <a:solidFill>
            <a:srgbClr val="0F2044"/>
          </a:solidFill>
          <a:ln w="12700">
            <a:solidFill>
              <a:srgbClr val="1A6EB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311810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CALENDAR (MAY 11-16)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74320" y="3364992"/>
            <a:ext cx="8595360" cy="23774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7472" y="339242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May 12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399032" y="339242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CPI  8:30 AM ET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3447288" y="3392424"/>
            <a:ext cx="534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— re-acceleration vs. cooling; governs Warsh's first rate signal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274320" y="3611880"/>
            <a:ext cx="8595360" cy="237744"/>
          </a:xfrm>
          <a:prstGeom prst="rect">
            <a:avLst/>
          </a:prstGeom>
          <a:solidFill>
            <a:srgbClr val="1C24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7472" y="36393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Tue-Thu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399032" y="36393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Warsh Confirmation / Transition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3447288" y="3639312"/>
            <a:ext cx="534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Senate vote; first remarks as incoming chair will move markets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274320" y="3858768"/>
            <a:ext cx="8595360" cy="23774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47472" y="38862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May 15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399032" y="38862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Powell ends; Warsh takes over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447288" y="3886200"/>
            <a:ext cx="534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first public Warsh statement on the rate path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274320" y="4105656"/>
            <a:ext cx="8595360" cy="237744"/>
          </a:xfrm>
          <a:prstGeom prst="rect">
            <a:avLst/>
          </a:prstGeom>
          <a:solidFill>
            <a:srgbClr val="1C24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47472" y="413308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May 15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1399032" y="41330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 8:30 AM ET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3447288" y="4133088"/>
            <a:ext cx="534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 slowed to 1.6% in Q1 — weakness challenges soft-landing narrative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274320" y="4352544"/>
            <a:ext cx="8595360" cy="23774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47472" y="437997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1399032" y="43799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Iran Ceasefire / Hormuz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3447288" y="4379976"/>
            <a:ext cx="534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&amp; gold hostage to headlines; escalation = 5%+ move in energy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274320" y="4636008"/>
            <a:ext cx="8595360" cy="274320"/>
          </a:xfrm>
          <a:prstGeom prst="rect">
            <a:avLst/>
          </a:prstGeom>
          <a:solidFill>
            <a:srgbClr val="0F204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11480" y="466344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CPI (Tue), Warsh's first words (Thu), and whether BTC holds $80,600. Those three tell you if this setup extends or resets.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74320" y="496519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Gems Uncovered  |  Tyler, Head of Research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Gems Uncovered — Market Update May 11, 2026</dc:title>
  <dc:subject>PptxGenJS Presentation</dc:subject>
  <dc:creator>PptxGenJS</dc:creator>
  <cp:lastModifiedBy>PptxGenJS</cp:lastModifiedBy>
  <cp:revision>1</cp:revision>
  <dcterms:created xsi:type="dcterms:W3CDTF">2026-05-11T13:51:16Z</dcterms:created>
  <dcterms:modified xsi:type="dcterms:W3CDTF">2026-05-11T13:51:16Z</dcterms:modified>
</cp:coreProperties>
</file>